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DM Sans Bold" panose="020B0604020202020204" charset="0"/>
      <p:regular r:id="rId17"/>
    </p:embeddedFont>
    <p:embeddedFont>
      <p:font typeface="Archivo Black" panose="020B0604020202020204" charset="0"/>
      <p:regular r:id="rId18"/>
    </p:embeddedFont>
    <p:embeddedFont>
      <p:font typeface="DM Sans" panose="020B0604020202020204" charset="0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DM Sans Italics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4.svg"/><Relationship Id="rId10" Type="http://schemas.openxmlformats.org/officeDocument/2006/relationships/image" Target="../media/image6.jpe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8.png"/><Relationship Id="rId7" Type="http://schemas.openxmlformats.org/officeDocument/2006/relationships/image" Target="../media/image4.svg"/><Relationship Id="rId12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34.svg"/><Relationship Id="rId5" Type="http://schemas.openxmlformats.org/officeDocument/2006/relationships/image" Target="../media/image29.png"/><Relationship Id="rId10" Type="http://schemas.openxmlformats.org/officeDocument/2006/relationships/image" Target="../media/image30.png"/><Relationship Id="rId4" Type="http://schemas.openxmlformats.org/officeDocument/2006/relationships/image" Target="../media/image6.jpeg"/><Relationship Id="rId9" Type="http://schemas.openxmlformats.org/officeDocument/2006/relationships/image" Target="../media/image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10" Type="http://schemas.openxmlformats.org/officeDocument/2006/relationships/image" Target="../media/image6.jpeg"/><Relationship Id="rId4" Type="http://schemas.openxmlformats.org/officeDocument/2006/relationships/image" Target="../media/image4.sv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95800" y="4467046"/>
            <a:ext cx="11601415" cy="3349909"/>
          </a:xfrm>
          <a:custGeom>
            <a:avLst/>
            <a:gdLst/>
            <a:ahLst/>
            <a:cxnLst/>
            <a:rect l="l" t="t" r="r" b="b"/>
            <a:pathLst>
              <a:path w="11601415" h="3349909">
                <a:moveTo>
                  <a:pt x="0" y="0"/>
                </a:moveTo>
                <a:lnTo>
                  <a:pt x="11601415" y="0"/>
                </a:lnTo>
                <a:lnTo>
                  <a:pt x="11601415" y="3349908"/>
                </a:lnTo>
                <a:lnTo>
                  <a:pt x="0" y="33499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19100"/>
            <a:ext cx="15468600" cy="4815696"/>
          </a:xfrm>
          <a:custGeom>
            <a:avLst/>
            <a:gdLst/>
            <a:ahLst/>
            <a:cxnLst/>
            <a:rect l="l" t="t" r="r" b="b"/>
            <a:pathLst>
              <a:path w="20928947" h="9967411">
                <a:moveTo>
                  <a:pt x="0" y="0"/>
                </a:moveTo>
                <a:lnTo>
                  <a:pt x="20928947" y="0"/>
                </a:lnTo>
                <a:lnTo>
                  <a:pt x="20928947" y="9967411"/>
                </a:lnTo>
                <a:lnTo>
                  <a:pt x="0" y="99674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7246537"/>
            <a:ext cx="7306128" cy="724363"/>
            <a:chOff x="0" y="0"/>
            <a:chExt cx="1924248" cy="19077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24248" cy="190779"/>
            </a:xfrm>
            <a:custGeom>
              <a:avLst/>
              <a:gdLst/>
              <a:ahLst/>
              <a:cxnLst/>
              <a:rect l="l" t="t" r="r" b="b"/>
              <a:pathLst>
                <a:path w="1924248" h="190779">
                  <a:moveTo>
                    <a:pt x="54042" y="0"/>
                  </a:moveTo>
                  <a:lnTo>
                    <a:pt x="1870206" y="0"/>
                  </a:lnTo>
                  <a:cubicBezTo>
                    <a:pt x="1900052" y="0"/>
                    <a:pt x="1924248" y="24195"/>
                    <a:pt x="1924248" y="54042"/>
                  </a:cubicBezTo>
                  <a:lnTo>
                    <a:pt x="1924248" y="136737"/>
                  </a:lnTo>
                  <a:cubicBezTo>
                    <a:pt x="1924248" y="151070"/>
                    <a:pt x="1918554" y="164815"/>
                    <a:pt x="1908419" y="174950"/>
                  </a:cubicBezTo>
                  <a:cubicBezTo>
                    <a:pt x="1898285" y="185085"/>
                    <a:pt x="1884539" y="190779"/>
                    <a:pt x="1870206" y="190779"/>
                  </a:cubicBezTo>
                  <a:lnTo>
                    <a:pt x="54042" y="190779"/>
                  </a:lnTo>
                  <a:cubicBezTo>
                    <a:pt x="39709" y="190779"/>
                    <a:pt x="25963" y="185085"/>
                    <a:pt x="15829" y="174950"/>
                  </a:cubicBezTo>
                  <a:cubicBezTo>
                    <a:pt x="5694" y="164815"/>
                    <a:pt x="0" y="151070"/>
                    <a:pt x="0" y="136737"/>
                  </a:cubicBezTo>
                  <a:lnTo>
                    <a:pt x="0" y="54042"/>
                  </a:lnTo>
                  <a:cubicBezTo>
                    <a:pt x="0" y="39709"/>
                    <a:pt x="5694" y="25963"/>
                    <a:pt x="15829" y="15829"/>
                  </a:cubicBezTo>
                  <a:cubicBezTo>
                    <a:pt x="25963" y="5694"/>
                    <a:pt x="39709" y="0"/>
                    <a:pt x="5404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50000"/>
                  </a:srgbClr>
                </a:gs>
                <a:gs pos="100000">
                  <a:srgbClr val="0A2C92">
                    <a:alpha val="50000"/>
                  </a:srgbClr>
                </a:gs>
              </a:gsLst>
              <a:lin ang="0"/>
            </a:gradFill>
            <a:ln w="47625" cap="rnd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924248" cy="228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8"/>
                </a:lnSpc>
              </a:pPr>
              <a:r>
                <a:rPr lang="en-US" sz="1506" spc="451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PRESENTED BY MUHAMMAD ISRAR | CYBERSECURITY INTERN @ CODEALPHA | OCTOBER 2026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8765711"/>
            <a:ext cx="385509" cy="385509"/>
          </a:xfrm>
          <a:custGeom>
            <a:avLst/>
            <a:gdLst/>
            <a:ahLst/>
            <a:cxnLst/>
            <a:rect l="l" t="t" r="r" b="b"/>
            <a:pathLst>
              <a:path w="385509" h="385509">
                <a:moveTo>
                  <a:pt x="0" y="0"/>
                </a:moveTo>
                <a:lnTo>
                  <a:pt x="385509" y="0"/>
                </a:lnTo>
                <a:lnTo>
                  <a:pt x="385509" y="385509"/>
                </a:lnTo>
                <a:lnTo>
                  <a:pt x="0" y="385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544313" y="8771117"/>
            <a:ext cx="374696" cy="374696"/>
          </a:xfrm>
          <a:custGeom>
            <a:avLst/>
            <a:gdLst/>
            <a:ahLst/>
            <a:cxnLst/>
            <a:rect l="l" t="t" r="r" b="b"/>
            <a:pathLst>
              <a:path w="374696" h="374696">
                <a:moveTo>
                  <a:pt x="0" y="0"/>
                </a:moveTo>
                <a:lnTo>
                  <a:pt x="374696" y="0"/>
                </a:lnTo>
                <a:lnTo>
                  <a:pt x="374696" y="374697"/>
                </a:lnTo>
                <a:lnTo>
                  <a:pt x="0" y="3746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173144" y="8769764"/>
            <a:ext cx="377404" cy="377404"/>
          </a:xfrm>
          <a:custGeom>
            <a:avLst/>
            <a:gdLst/>
            <a:ahLst/>
            <a:cxnLst/>
            <a:rect l="l" t="t" r="r" b="b"/>
            <a:pathLst>
              <a:path w="377404" h="377404">
                <a:moveTo>
                  <a:pt x="0" y="0"/>
                </a:moveTo>
                <a:lnTo>
                  <a:pt x="377404" y="0"/>
                </a:lnTo>
                <a:lnTo>
                  <a:pt x="377404" y="377403"/>
                </a:lnTo>
                <a:lnTo>
                  <a:pt x="0" y="3774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4062500"/>
            <a:ext cx="9459591" cy="1837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81"/>
              </a:lnSpc>
              <a:spcBef>
                <a:spcPct val="0"/>
              </a:spcBef>
            </a:pPr>
            <a:r>
              <a:rPr lang="en-US" sz="5272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PHISHING AWARENESS TRAINING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009650"/>
            <a:ext cx="4644851" cy="263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4"/>
              </a:lnSpc>
              <a:spcBef>
                <a:spcPct val="0"/>
              </a:spcBef>
            </a:pPr>
            <a:r>
              <a:rPr lang="en-US" sz="1631" i="1" spc="163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CODEALPHA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13816" y="8779078"/>
            <a:ext cx="3730816" cy="21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57"/>
              </a:lnSpc>
              <a:spcBef>
                <a:spcPct val="0"/>
              </a:spcBef>
            </a:pPr>
            <a:r>
              <a:rPr lang="en-US" sz="1255" spc="1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www.muhammadisrar.online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23784" y="8779078"/>
            <a:ext cx="3956837" cy="21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57"/>
              </a:lnSpc>
              <a:spcBef>
                <a:spcPct val="0"/>
              </a:spcBef>
            </a:pPr>
            <a:r>
              <a:rPr lang="en-US" sz="1255" spc="1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muhammadisrar0328@gmail.com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59715" y="8779078"/>
            <a:ext cx="4599585" cy="21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57"/>
              </a:lnSpc>
              <a:spcBef>
                <a:spcPct val="0"/>
              </a:spcBef>
            </a:pPr>
            <a:r>
              <a:rPr lang="en-US" sz="1255" spc="1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+923085642190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4192250" y="1885950"/>
            <a:ext cx="3333750" cy="3333750"/>
            <a:chOff x="0" y="0"/>
            <a:chExt cx="4445000" cy="4445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45000" cy="4445000"/>
            </a:xfrm>
            <a:custGeom>
              <a:avLst/>
              <a:gdLst/>
              <a:ahLst/>
              <a:cxnLst/>
              <a:rect l="l" t="t" r="r" b="b"/>
              <a:pathLst>
                <a:path w="4445000" h="4445000">
                  <a:moveTo>
                    <a:pt x="2222500" y="0"/>
                  </a:moveTo>
                  <a:cubicBezTo>
                    <a:pt x="3449953" y="0"/>
                    <a:pt x="4445000" y="995047"/>
                    <a:pt x="4445000" y="2222500"/>
                  </a:cubicBezTo>
                  <a:cubicBezTo>
                    <a:pt x="4445000" y="3449953"/>
                    <a:pt x="3449953" y="4445000"/>
                    <a:pt x="2222500" y="4445000"/>
                  </a:cubicBezTo>
                  <a:cubicBezTo>
                    <a:pt x="995047" y="4445000"/>
                    <a:pt x="0" y="3449953"/>
                    <a:pt x="0" y="2222500"/>
                  </a:cubicBezTo>
                  <a:cubicBezTo>
                    <a:pt x="0" y="995047"/>
                    <a:pt x="995047" y="0"/>
                    <a:pt x="2222500" y="0"/>
                  </a:cubicBezTo>
                  <a:close/>
                </a:path>
              </a:pathLst>
            </a:custGeom>
            <a:solidFill>
              <a:srgbClr val="11183B"/>
            </a:solidFill>
            <a:ln w="38100" cap="sq">
              <a:solidFill>
                <a:srgbClr val="8D7CFF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445000" cy="448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4325600" y="2019300"/>
            <a:ext cx="3067050" cy="3067050"/>
          </a:xfrm>
          <a:custGeom>
            <a:avLst/>
            <a:gdLst/>
            <a:ahLst/>
            <a:cxnLst/>
            <a:rect l="l" t="t" r="r" b="b"/>
            <a:pathLst>
              <a:path w="3067050" h="3067050">
                <a:moveTo>
                  <a:pt x="0" y="0"/>
                </a:moveTo>
                <a:lnTo>
                  <a:pt x="3067050" y="0"/>
                </a:lnTo>
                <a:lnTo>
                  <a:pt x="3067050" y="3067050"/>
                </a:lnTo>
                <a:lnTo>
                  <a:pt x="0" y="30670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2871222" y="5958078"/>
            <a:ext cx="16230600" cy="6600444"/>
          </a:xfrm>
          <a:custGeom>
            <a:avLst/>
            <a:gdLst/>
            <a:ahLst/>
            <a:cxnLst/>
            <a:rect l="l" t="t" r="r" b="b"/>
            <a:pathLst>
              <a:path w="16230600" h="6600444">
                <a:moveTo>
                  <a:pt x="16230600" y="0"/>
                </a:moveTo>
                <a:lnTo>
                  <a:pt x="0" y="0"/>
                </a:lnTo>
                <a:lnTo>
                  <a:pt x="0" y="6600444"/>
                </a:lnTo>
                <a:lnTo>
                  <a:pt x="16230600" y="6600444"/>
                </a:lnTo>
                <a:lnTo>
                  <a:pt x="162306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12333495" y="2766060"/>
            <a:ext cx="0" cy="6492240"/>
          </a:xfrm>
          <a:prstGeom prst="line">
            <a:avLst/>
          </a:prstGeom>
          <a:ln w="38100" cap="flat">
            <a:gradFill>
              <a:gsLst>
                <a:gs pos="0">
                  <a:srgbClr val="B992C1">
                    <a:alpha val="0"/>
                  </a:srgbClr>
                </a:gs>
                <a:gs pos="50000">
                  <a:srgbClr val="0A2C92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7197755" y="3763726"/>
            <a:ext cx="10271479" cy="0"/>
          </a:xfrm>
          <a:prstGeom prst="line">
            <a:avLst/>
          </a:prstGeom>
          <a:ln w="38100" cap="flat">
            <a:gradFill>
              <a:gsLst>
                <a:gs pos="0">
                  <a:srgbClr val="B992C1">
                    <a:alpha val="0"/>
                  </a:srgbClr>
                </a:gs>
                <a:gs pos="50000">
                  <a:srgbClr val="0A2C92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7197755" y="4974671"/>
            <a:ext cx="10271479" cy="0"/>
          </a:xfrm>
          <a:prstGeom prst="line">
            <a:avLst/>
          </a:prstGeom>
          <a:ln w="38100" cap="flat">
            <a:gradFill>
              <a:gsLst>
                <a:gs pos="0">
                  <a:srgbClr val="B992C1">
                    <a:alpha val="0"/>
                  </a:srgbClr>
                </a:gs>
                <a:gs pos="50000">
                  <a:srgbClr val="0A2C92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7197755" y="6367148"/>
            <a:ext cx="10271479" cy="0"/>
          </a:xfrm>
          <a:prstGeom prst="line">
            <a:avLst/>
          </a:prstGeom>
          <a:ln w="38100" cap="flat">
            <a:gradFill>
              <a:gsLst>
                <a:gs pos="0">
                  <a:srgbClr val="B992C1">
                    <a:alpha val="0"/>
                  </a:srgbClr>
                </a:gs>
                <a:gs pos="50000">
                  <a:srgbClr val="0A2C92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7197755" y="7825108"/>
            <a:ext cx="10271479" cy="0"/>
          </a:xfrm>
          <a:prstGeom prst="line">
            <a:avLst/>
          </a:prstGeom>
          <a:ln w="38100" cap="flat">
            <a:gradFill>
              <a:gsLst>
                <a:gs pos="0">
                  <a:srgbClr val="B992C1">
                    <a:alpha val="0"/>
                  </a:srgbClr>
                </a:gs>
                <a:gs pos="50000">
                  <a:srgbClr val="0A2C92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028700" y="981075"/>
            <a:ext cx="4644851" cy="405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i="1" spc="239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CodeAlpha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613106"/>
            <a:ext cx="5524937" cy="2797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98"/>
              </a:lnSpc>
              <a:spcBef>
                <a:spcPct val="0"/>
              </a:spcBef>
            </a:pPr>
            <a:r>
              <a:rPr lang="en-US" sz="535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EXECUTIVE</a:t>
            </a:r>
          </a:p>
          <a:p>
            <a:pPr marL="0" lvl="0" indent="0" algn="l">
              <a:lnSpc>
                <a:spcPts val="7498"/>
              </a:lnSpc>
              <a:spcBef>
                <a:spcPct val="0"/>
              </a:spcBef>
            </a:pPr>
            <a:r>
              <a:rPr lang="en-US" sz="535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SUMMARY &amp;</a:t>
            </a:r>
          </a:p>
          <a:p>
            <a:pPr marL="0" lvl="0" indent="0" algn="l">
              <a:lnSpc>
                <a:spcPts val="7498"/>
              </a:lnSpc>
              <a:spcBef>
                <a:spcPct val="0"/>
              </a:spcBef>
            </a:pPr>
            <a:r>
              <a:rPr lang="en-US" sz="535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OBJECTIVE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36970" y="3001370"/>
            <a:ext cx="3331566" cy="238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41"/>
              </a:lnSpc>
            </a:pPr>
            <a:r>
              <a:rPr lang="en-US" sz="1493" b="1" spc="14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Build a Human Firewall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36970" y="4121509"/>
            <a:ext cx="3331566" cy="476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41"/>
              </a:lnSpc>
            </a:pPr>
            <a:r>
              <a:rPr lang="en-US" sz="1493" b="1" spc="14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80%+ of Security Incidents via Phishing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137669" y="2882307"/>
            <a:ext cx="3331566" cy="476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41"/>
              </a:lnSpc>
            </a:pPr>
            <a:r>
              <a:rPr lang="en-US" sz="1493" b="1" spc="14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Email Spoofing &amp; Domain Analysis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137669" y="4240572"/>
            <a:ext cx="3331566" cy="238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41"/>
              </a:lnSpc>
            </a:pPr>
            <a:r>
              <a:rPr lang="en-US" sz="1493" b="1" spc="14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Social Engineering Psychology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10837" y="2859246"/>
            <a:ext cx="1095685" cy="50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045"/>
              </a:lnSpc>
            </a:pPr>
            <a:r>
              <a:rPr lang="en-US" sz="3112" b="1" spc="31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10837" y="4098448"/>
            <a:ext cx="1095685" cy="50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045"/>
              </a:lnSpc>
            </a:pPr>
            <a:r>
              <a:rPr lang="en-US" sz="3112" b="1" spc="31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11536" y="2859246"/>
            <a:ext cx="1095685" cy="50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045"/>
              </a:lnSpc>
            </a:pPr>
            <a:r>
              <a:rPr lang="en-US" sz="3112" b="1" spc="31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11536" y="4098448"/>
            <a:ext cx="1095685" cy="50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045"/>
              </a:lnSpc>
            </a:pPr>
            <a:r>
              <a:rPr lang="en-US" sz="3112" b="1" spc="31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36970" y="5457154"/>
            <a:ext cx="3331566" cy="476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41"/>
              </a:lnSpc>
            </a:pPr>
            <a:r>
              <a:rPr lang="en-US" sz="1493" b="1" spc="14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Technical Verification Methods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137669" y="5576217"/>
            <a:ext cx="3331566" cy="238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41"/>
              </a:lnSpc>
            </a:pPr>
            <a:r>
              <a:rPr lang="en-US" sz="1493" b="1" spc="14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Advanced Threat Assessment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10837" y="5434093"/>
            <a:ext cx="1095685" cy="50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045"/>
              </a:lnSpc>
            </a:pPr>
            <a:r>
              <a:rPr lang="en-US" sz="3112" b="1" spc="31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811536" y="5434093"/>
            <a:ext cx="1095685" cy="50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045"/>
              </a:lnSpc>
            </a:pPr>
            <a:r>
              <a:rPr lang="en-US" sz="3112" b="1" spc="31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08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36970" y="6967501"/>
            <a:ext cx="3331566" cy="238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41"/>
              </a:lnSpc>
            </a:pPr>
            <a:r>
              <a:rPr lang="en-US" sz="1493" b="1" spc="14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Interactive Phishing Quizzes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137669" y="6967501"/>
            <a:ext cx="3331566" cy="238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41"/>
              </a:lnSpc>
            </a:pPr>
            <a:r>
              <a:rPr lang="en-US" sz="1493" b="1" spc="14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Incident Reporting Protocols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010837" y="6825378"/>
            <a:ext cx="1095685" cy="50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045"/>
              </a:lnSpc>
            </a:pPr>
            <a:r>
              <a:rPr lang="en-US" sz="3112" b="1" spc="31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811536" y="6825378"/>
            <a:ext cx="1095685" cy="50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045"/>
              </a:lnSpc>
            </a:pPr>
            <a:r>
              <a:rPr lang="en-US" sz="3112" b="1" spc="31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09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36970" y="8301954"/>
            <a:ext cx="3331566" cy="238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41"/>
              </a:lnSpc>
            </a:pPr>
            <a:r>
              <a:rPr lang="en-US" sz="1493" b="1" spc="14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Defense Best Practices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137669" y="8301954"/>
            <a:ext cx="3331566" cy="238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41"/>
              </a:lnSpc>
            </a:pPr>
            <a:r>
              <a:rPr lang="en-US" sz="1493" b="1" spc="14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Key Takeaways &amp; Conclusion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010837" y="8159830"/>
            <a:ext cx="1095685" cy="50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045"/>
              </a:lnSpc>
            </a:pPr>
            <a:r>
              <a:rPr lang="en-US" sz="3112" b="1" spc="31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811536" y="8159830"/>
            <a:ext cx="1095685" cy="50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045"/>
              </a:lnSpc>
            </a:pPr>
            <a:r>
              <a:rPr lang="en-US" sz="3112" b="1" spc="31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97332" y="3285635"/>
            <a:ext cx="14766503" cy="2816513"/>
            <a:chOff x="0" y="0"/>
            <a:chExt cx="3889120" cy="7417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89120" cy="741798"/>
            </a:xfrm>
            <a:custGeom>
              <a:avLst/>
              <a:gdLst/>
              <a:ahLst/>
              <a:cxnLst/>
              <a:rect l="l" t="t" r="r" b="b"/>
              <a:pathLst>
                <a:path w="3889120" h="741798">
                  <a:moveTo>
                    <a:pt x="10486" y="0"/>
                  </a:moveTo>
                  <a:lnTo>
                    <a:pt x="3878635" y="0"/>
                  </a:lnTo>
                  <a:cubicBezTo>
                    <a:pt x="3884426" y="0"/>
                    <a:pt x="3889120" y="4695"/>
                    <a:pt x="3889120" y="10486"/>
                  </a:cubicBezTo>
                  <a:lnTo>
                    <a:pt x="3889120" y="731312"/>
                  </a:lnTo>
                  <a:cubicBezTo>
                    <a:pt x="3889120" y="734093"/>
                    <a:pt x="3888016" y="736760"/>
                    <a:pt x="3886049" y="738726"/>
                  </a:cubicBezTo>
                  <a:cubicBezTo>
                    <a:pt x="3884083" y="740693"/>
                    <a:pt x="3881415" y="741798"/>
                    <a:pt x="3878635" y="741798"/>
                  </a:cubicBezTo>
                  <a:lnTo>
                    <a:pt x="10486" y="741798"/>
                  </a:lnTo>
                  <a:cubicBezTo>
                    <a:pt x="4695" y="741798"/>
                    <a:pt x="0" y="737103"/>
                    <a:pt x="0" y="731312"/>
                  </a:cubicBezTo>
                  <a:lnTo>
                    <a:pt x="0" y="10486"/>
                  </a:lnTo>
                  <a:cubicBezTo>
                    <a:pt x="0" y="4695"/>
                    <a:pt x="4695" y="0"/>
                    <a:pt x="104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50000"/>
                  </a:srgbClr>
                </a:gs>
                <a:gs pos="100000">
                  <a:srgbClr val="0A2C92">
                    <a:alpha val="5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B992C1">
                      <a:alpha val="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89120" cy="7894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97332" y="3285635"/>
            <a:ext cx="3387820" cy="5633026"/>
            <a:chOff x="0" y="0"/>
            <a:chExt cx="822442" cy="13674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22442" cy="1367499"/>
            </a:xfrm>
            <a:custGeom>
              <a:avLst/>
              <a:gdLst/>
              <a:ahLst/>
              <a:cxnLst/>
              <a:rect l="l" t="t" r="r" b="b"/>
              <a:pathLst>
                <a:path w="822442" h="1367499">
                  <a:moveTo>
                    <a:pt x="22852" y="0"/>
                  </a:moveTo>
                  <a:lnTo>
                    <a:pt x="799590" y="0"/>
                  </a:lnTo>
                  <a:cubicBezTo>
                    <a:pt x="805651" y="0"/>
                    <a:pt x="811463" y="2408"/>
                    <a:pt x="815749" y="6693"/>
                  </a:cubicBezTo>
                  <a:cubicBezTo>
                    <a:pt x="820035" y="10979"/>
                    <a:pt x="822442" y="16791"/>
                    <a:pt x="822442" y="22852"/>
                  </a:cubicBezTo>
                  <a:lnTo>
                    <a:pt x="822442" y="1344646"/>
                  </a:lnTo>
                  <a:cubicBezTo>
                    <a:pt x="822442" y="1357267"/>
                    <a:pt x="812211" y="1367499"/>
                    <a:pt x="799590" y="1367499"/>
                  </a:cubicBezTo>
                  <a:lnTo>
                    <a:pt x="22852" y="1367499"/>
                  </a:lnTo>
                  <a:cubicBezTo>
                    <a:pt x="10231" y="1367499"/>
                    <a:pt x="0" y="1357267"/>
                    <a:pt x="0" y="1344646"/>
                  </a:cubicBezTo>
                  <a:lnTo>
                    <a:pt x="0" y="22852"/>
                  </a:lnTo>
                  <a:cubicBezTo>
                    <a:pt x="0" y="10231"/>
                    <a:pt x="10231" y="0"/>
                    <a:pt x="22852" y="0"/>
                  </a:cubicBezTo>
                  <a:close/>
                </a:path>
              </a:pathLst>
            </a:custGeom>
            <a:blipFill>
              <a:blip r:embed="rId2"/>
              <a:stretch>
                <a:fillRect t="-14" b="-1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5766023" y="6425358"/>
            <a:ext cx="3387820" cy="2493302"/>
            <a:chOff x="0" y="0"/>
            <a:chExt cx="822442" cy="6052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22442" cy="605285"/>
            </a:xfrm>
            <a:custGeom>
              <a:avLst/>
              <a:gdLst/>
              <a:ahLst/>
              <a:cxnLst/>
              <a:rect l="l" t="t" r="r" b="b"/>
              <a:pathLst>
                <a:path w="822442" h="605285">
                  <a:moveTo>
                    <a:pt x="22852" y="0"/>
                  </a:moveTo>
                  <a:lnTo>
                    <a:pt x="799590" y="0"/>
                  </a:lnTo>
                  <a:cubicBezTo>
                    <a:pt x="805651" y="0"/>
                    <a:pt x="811463" y="2408"/>
                    <a:pt x="815749" y="6693"/>
                  </a:cubicBezTo>
                  <a:cubicBezTo>
                    <a:pt x="820035" y="10979"/>
                    <a:pt x="822442" y="16791"/>
                    <a:pt x="822442" y="22852"/>
                  </a:cubicBezTo>
                  <a:lnTo>
                    <a:pt x="822442" y="582433"/>
                  </a:lnTo>
                  <a:cubicBezTo>
                    <a:pt x="822442" y="595054"/>
                    <a:pt x="812211" y="605285"/>
                    <a:pt x="799590" y="605285"/>
                  </a:cubicBezTo>
                  <a:lnTo>
                    <a:pt x="22852" y="605285"/>
                  </a:lnTo>
                  <a:cubicBezTo>
                    <a:pt x="16791" y="605285"/>
                    <a:pt x="10979" y="602877"/>
                    <a:pt x="6693" y="598592"/>
                  </a:cubicBezTo>
                  <a:cubicBezTo>
                    <a:pt x="2408" y="594306"/>
                    <a:pt x="0" y="588494"/>
                    <a:pt x="0" y="582433"/>
                  </a:cubicBezTo>
                  <a:lnTo>
                    <a:pt x="0" y="22852"/>
                  </a:lnTo>
                  <a:cubicBezTo>
                    <a:pt x="0" y="10231"/>
                    <a:pt x="10231" y="0"/>
                    <a:pt x="22852" y="0"/>
                  </a:cubicBezTo>
                  <a:close/>
                </a:path>
              </a:pathLst>
            </a:custGeom>
            <a:blipFill>
              <a:blip r:embed="rId3"/>
              <a:stretch>
                <a:fillRect l="-236" r="-236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4191000" y="469118"/>
            <a:ext cx="14097000" cy="3312298"/>
          </a:xfrm>
          <a:custGeom>
            <a:avLst/>
            <a:gdLst/>
            <a:ahLst/>
            <a:cxnLst/>
            <a:rect l="l" t="t" r="r" b="b"/>
            <a:pathLst>
              <a:path w="16575932" h="7873568">
                <a:moveTo>
                  <a:pt x="0" y="0"/>
                </a:moveTo>
                <a:lnTo>
                  <a:pt x="16575931" y="0"/>
                </a:lnTo>
                <a:lnTo>
                  <a:pt x="16575931" y="7873568"/>
                </a:lnTo>
                <a:lnTo>
                  <a:pt x="0" y="78735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614449" y="8529406"/>
            <a:ext cx="4644851" cy="389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17"/>
              </a:lnSpc>
              <a:spcBef>
                <a:spcPct val="0"/>
              </a:spcBef>
            </a:pPr>
            <a:r>
              <a:rPr lang="en-US" sz="2298" i="1" spc="229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CODEALPHA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97332" y="1240271"/>
            <a:ext cx="10517116" cy="1270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312"/>
              </a:lnSpc>
              <a:spcBef>
                <a:spcPct val="0"/>
              </a:spcBef>
            </a:pPr>
            <a:r>
              <a:rPr lang="en-US" sz="736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WHAT IS PHISHING?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66023" y="3619933"/>
            <a:ext cx="7752918" cy="1905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12"/>
              </a:lnSpc>
            </a:pPr>
            <a:r>
              <a:rPr lang="en-US" sz="1471" spc="14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Phishing is a social engineering attack where adversaries impersonate trusted entities — banks, IT departments, executives — to manipulate human psychology and steal credentials, financial data, or system access.</a:t>
            </a:r>
          </a:p>
          <a:p>
            <a:pPr marL="0" lvl="0" indent="0" algn="l">
              <a:lnSpc>
                <a:spcPts val="1912"/>
              </a:lnSpc>
            </a:pPr>
            <a:r>
              <a:rPr lang="en-US" sz="1471" spc="14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Common Attack Vectors:</a:t>
            </a:r>
          </a:p>
          <a:p>
            <a:pPr marL="0" lvl="0" indent="0" algn="l">
              <a:lnSpc>
                <a:spcPts val="1912"/>
              </a:lnSpc>
            </a:pPr>
            <a:r>
              <a:rPr lang="en-US" sz="1471" spc="14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Email (Phishing) — Deceptive messages mimicking legitimate senders</a:t>
            </a:r>
          </a:p>
          <a:p>
            <a:pPr marL="0" lvl="0" indent="0" algn="l">
              <a:lnSpc>
                <a:spcPts val="1912"/>
              </a:lnSpc>
            </a:pPr>
            <a:r>
              <a:rPr lang="en-US" sz="1471" spc="14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SMS (Smishing) — Text-based lures with malicious links</a:t>
            </a:r>
          </a:p>
          <a:p>
            <a:pPr marL="0" lvl="0" indent="0" algn="l">
              <a:lnSpc>
                <a:spcPts val="1912"/>
              </a:lnSpc>
            </a:pPr>
            <a:r>
              <a:rPr lang="en-US" sz="1471" spc="14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Voice Calls (Vishing) — Phone impersonation of authority figures</a:t>
            </a:r>
          </a:p>
          <a:p>
            <a:pPr marL="0" lvl="0" indent="0" algn="l">
              <a:lnSpc>
                <a:spcPts val="1912"/>
              </a:lnSpc>
            </a:pPr>
            <a:r>
              <a:rPr lang="en-US" sz="1471" spc="14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Web Portals (Watering Hole) — Fake login pages harvesting credentials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30068" y="6324913"/>
            <a:ext cx="6760600" cy="119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12"/>
              </a:lnSpc>
            </a:pPr>
            <a:r>
              <a:rPr lang="en-US" sz="1471" spc="14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Organizational Impact:</a:t>
            </a:r>
          </a:p>
          <a:p>
            <a:pPr marL="0" lvl="0" indent="0" algn="l">
              <a:lnSpc>
                <a:spcPts val="1912"/>
              </a:lnSpc>
            </a:pPr>
            <a:r>
              <a:rPr lang="en-US" sz="1471" spc="14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Primary initial access vector for ransomware deployment</a:t>
            </a:r>
          </a:p>
          <a:p>
            <a:pPr marL="0" lvl="0" indent="0" algn="l">
              <a:lnSpc>
                <a:spcPts val="1912"/>
              </a:lnSpc>
            </a:pPr>
            <a:r>
              <a:rPr lang="en-US" sz="1471" spc="14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Credential theft &amp; sensitive data exfiltration</a:t>
            </a:r>
          </a:p>
          <a:p>
            <a:pPr marL="0" lvl="0" indent="0" algn="l">
              <a:lnSpc>
                <a:spcPts val="1912"/>
              </a:lnSpc>
            </a:pPr>
            <a:r>
              <a:rPr lang="en-US" sz="1471" spc="14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Business Email Compromise (BEC) &amp; financial fraud</a:t>
            </a:r>
          </a:p>
          <a:p>
            <a:pPr marL="0" lvl="0" indent="0" algn="l">
              <a:lnSpc>
                <a:spcPts val="1912"/>
              </a:lnSpc>
            </a:pPr>
            <a:r>
              <a:rPr lang="en-US" sz="1471" spc="14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Compliance violations, legal penalties &amp; brand damage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4865" y="5547429"/>
            <a:ext cx="11585239" cy="4605133"/>
          </a:xfrm>
          <a:custGeom>
            <a:avLst/>
            <a:gdLst/>
            <a:ahLst/>
            <a:cxnLst/>
            <a:rect l="l" t="t" r="r" b="b"/>
            <a:pathLst>
              <a:path w="11585239" h="4605133">
                <a:moveTo>
                  <a:pt x="0" y="0"/>
                </a:moveTo>
                <a:lnTo>
                  <a:pt x="11585239" y="0"/>
                </a:lnTo>
                <a:lnTo>
                  <a:pt x="11585239" y="4605133"/>
                </a:lnTo>
                <a:lnTo>
                  <a:pt x="0" y="46051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911188" y="1488481"/>
            <a:ext cx="3363184" cy="8054411"/>
            <a:chOff x="0" y="0"/>
            <a:chExt cx="885777" cy="21213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85777" cy="2121326"/>
            </a:xfrm>
            <a:custGeom>
              <a:avLst/>
              <a:gdLst/>
              <a:ahLst/>
              <a:cxnLst/>
              <a:rect l="l" t="t" r="r" b="b"/>
              <a:pathLst>
                <a:path w="885777" h="2121326">
                  <a:moveTo>
                    <a:pt x="46039" y="0"/>
                  </a:moveTo>
                  <a:lnTo>
                    <a:pt x="839738" y="0"/>
                  </a:lnTo>
                  <a:cubicBezTo>
                    <a:pt x="851948" y="0"/>
                    <a:pt x="863658" y="4851"/>
                    <a:pt x="872292" y="13485"/>
                  </a:cubicBezTo>
                  <a:cubicBezTo>
                    <a:pt x="880926" y="22119"/>
                    <a:pt x="885777" y="33829"/>
                    <a:pt x="885777" y="46039"/>
                  </a:cubicBezTo>
                  <a:lnTo>
                    <a:pt x="885777" y="2075287"/>
                  </a:lnTo>
                  <a:cubicBezTo>
                    <a:pt x="885777" y="2087497"/>
                    <a:pt x="880926" y="2099208"/>
                    <a:pt x="872292" y="2107842"/>
                  </a:cubicBezTo>
                  <a:cubicBezTo>
                    <a:pt x="863658" y="2116476"/>
                    <a:pt x="851948" y="2121326"/>
                    <a:pt x="839738" y="2121326"/>
                  </a:cubicBezTo>
                  <a:lnTo>
                    <a:pt x="46039" y="2121326"/>
                  </a:lnTo>
                  <a:cubicBezTo>
                    <a:pt x="33829" y="2121326"/>
                    <a:pt x="22119" y="2116476"/>
                    <a:pt x="13485" y="2107842"/>
                  </a:cubicBezTo>
                  <a:cubicBezTo>
                    <a:pt x="4851" y="2099208"/>
                    <a:pt x="0" y="2087497"/>
                    <a:pt x="0" y="2075287"/>
                  </a:cubicBezTo>
                  <a:lnTo>
                    <a:pt x="0" y="46039"/>
                  </a:lnTo>
                  <a:cubicBezTo>
                    <a:pt x="0" y="33829"/>
                    <a:pt x="4851" y="22119"/>
                    <a:pt x="13485" y="13485"/>
                  </a:cubicBezTo>
                  <a:cubicBezTo>
                    <a:pt x="22119" y="4851"/>
                    <a:pt x="33829" y="0"/>
                    <a:pt x="4603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100000"/>
                  </a:srgbClr>
                </a:gs>
                <a:gs pos="100000">
                  <a:srgbClr val="0A2C92">
                    <a:alpha val="10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85777" cy="2168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03652" y="1488481"/>
            <a:ext cx="3363184" cy="8054411"/>
            <a:chOff x="0" y="0"/>
            <a:chExt cx="885777" cy="21213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5777" cy="2121326"/>
            </a:xfrm>
            <a:custGeom>
              <a:avLst/>
              <a:gdLst/>
              <a:ahLst/>
              <a:cxnLst/>
              <a:rect l="l" t="t" r="r" b="b"/>
              <a:pathLst>
                <a:path w="885777" h="2121326">
                  <a:moveTo>
                    <a:pt x="46039" y="0"/>
                  </a:moveTo>
                  <a:lnTo>
                    <a:pt x="839738" y="0"/>
                  </a:lnTo>
                  <a:cubicBezTo>
                    <a:pt x="851948" y="0"/>
                    <a:pt x="863658" y="4851"/>
                    <a:pt x="872292" y="13485"/>
                  </a:cubicBezTo>
                  <a:cubicBezTo>
                    <a:pt x="880926" y="22119"/>
                    <a:pt x="885777" y="33829"/>
                    <a:pt x="885777" y="46039"/>
                  </a:cubicBezTo>
                  <a:lnTo>
                    <a:pt x="885777" y="2075287"/>
                  </a:lnTo>
                  <a:cubicBezTo>
                    <a:pt x="885777" y="2087497"/>
                    <a:pt x="880926" y="2099208"/>
                    <a:pt x="872292" y="2107842"/>
                  </a:cubicBezTo>
                  <a:cubicBezTo>
                    <a:pt x="863658" y="2116476"/>
                    <a:pt x="851948" y="2121326"/>
                    <a:pt x="839738" y="2121326"/>
                  </a:cubicBezTo>
                  <a:lnTo>
                    <a:pt x="46039" y="2121326"/>
                  </a:lnTo>
                  <a:cubicBezTo>
                    <a:pt x="33829" y="2121326"/>
                    <a:pt x="22119" y="2116476"/>
                    <a:pt x="13485" y="2107842"/>
                  </a:cubicBezTo>
                  <a:cubicBezTo>
                    <a:pt x="4851" y="2099208"/>
                    <a:pt x="0" y="2087497"/>
                    <a:pt x="0" y="2075287"/>
                  </a:cubicBezTo>
                  <a:lnTo>
                    <a:pt x="0" y="46039"/>
                  </a:lnTo>
                  <a:cubicBezTo>
                    <a:pt x="0" y="33829"/>
                    <a:pt x="4851" y="22119"/>
                    <a:pt x="13485" y="13485"/>
                  </a:cubicBezTo>
                  <a:cubicBezTo>
                    <a:pt x="22119" y="4851"/>
                    <a:pt x="33829" y="0"/>
                    <a:pt x="4603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50000"/>
                  </a:srgbClr>
                </a:gs>
                <a:gs pos="100000">
                  <a:srgbClr val="0A2C92">
                    <a:alpha val="5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85777" cy="2168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820400" y="-486491"/>
            <a:ext cx="6882412" cy="3332235"/>
          </a:xfrm>
          <a:custGeom>
            <a:avLst/>
            <a:gdLst/>
            <a:ahLst/>
            <a:cxnLst/>
            <a:rect l="l" t="t" r="r" b="b"/>
            <a:pathLst>
              <a:path w="6882412" h="3332235">
                <a:moveTo>
                  <a:pt x="0" y="0"/>
                </a:moveTo>
                <a:lnTo>
                  <a:pt x="6882413" y="0"/>
                </a:lnTo>
                <a:lnTo>
                  <a:pt x="6882413" y="3332234"/>
                </a:lnTo>
                <a:lnTo>
                  <a:pt x="0" y="33322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3896116" y="1488481"/>
            <a:ext cx="3363184" cy="8054411"/>
            <a:chOff x="0" y="0"/>
            <a:chExt cx="885777" cy="212132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85777" cy="2121326"/>
            </a:xfrm>
            <a:custGeom>
              <a:avLst/>
              <a:gdLst/>
              <a:ahLst/>
              <a:cxnLst/>
              <a:rect l="l" t="t" r="r" b="b"/>
              <a:pathLst>
                <a:path w="885777" h="2121326">
                  <a:moveTo>
                    <a:pt x="46039" y="0"/>
                  </a:moveTo>
                  <a:lnTo>
                    <a:pt x="839738" y="0"/>
                  </a:lnTo>
                  <a:cubicBezTo>
                    <a:pt x="851948" y="0"/>
                    <a:pt x="863658" y="4851"/>
                    <a:pt x="872292" y="13485"/>
                  </a:cubicBezTo>
                  <a:cubicBezTo>
                    <a:pt x="880926" y="22119"/>
                    <a:pt x="885777" y="33829"/>
                    <a:pt x="885777" y="46039"/>
                  </a:cubicBezTo>
                  <a:lnTo>
                    <a:pt x="885777" y="2075287"/>
                  </a:lnTo>
                  <a:cubicBezTo>
                    <a:pt x="885777" y="2087497"/>
                    <a:pt x="880926" y="2099208"/>
                    <a:pt x="872292" y="2107842"/>
                  </a:cubicBezTo>
                  <a:cubicBezTo>
                    <a:pt x="863658" y="2116476"/>
                    <a:pt x="851948" y="2121326"/>
                    <a:pt x="839738" y="2121326"/>
                  </a:cubicBezTo>
                  <a:lnTo>
                    <a:pt x="46039" y="2121326"/>
                  </a:lnTo>
                  <a:cubicBezTo>
                    <a:pt x="33829" y="2121326"/>
                    <a:pt x="22119" y="2116476"/>
                    <a:pt x="13485" y="2107842"/>
                  </a:cubicBezTo>
                  <a:cubicBezTo>
                    <a:pt x="4851" y="2099208"/>
                    <a:pt x="0" y="2087497"/>
                    <a:pt x="0" y="2075287"/>
                  </a:cubicBezTo>
                  <a:lnTo>
                    <a:pt x="0" y="46039"/>
                  </a:lnTo>
                  <a:cubicBezTo>
                    <a:pt x="0" y="33829"/>
                    <a:pt x="4851" y="22119"/>
                    <a:pt x="13485" y="13485"/>
                  </a:cubicBezTo>
                  <a:cubicBezTo>
                    <a:pt x="22119" y="4851"/>
                    <a:pt x="33829" y="0"/>
                    <a:pt x="4603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50000"/>
                  </a:srgbClr>
                </a:gs>
                <a:gs pos="100000">
                  <a:srgbClr val="0A2C92">
                    <a:alpha val="5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885777" cy="2168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96564" y="3898900"/>
            <a:ext cx="5893917" cy="2217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02"/>
              </a:lnSpc>
              <a:spcBef>
                <a:spcPct val="0"/>
              </a:spcBef>
            </a:pPr>
            <a:r>
              <a:rPr lang="en-US" sz="421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ADVANCED PHISHING CATEGORIES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44710" y="3762263"/>
            <a:ext cx="2896140" cy="344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28"/>
              </a:lnSpc>
            </a:pPr>
            <a:r>
              <a:rPr lang="en-US" sz="2098" b="1" spc="20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SPEAR PHISHING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637174" y="3590813"/>
            <a:ext cx="2896140" cy="687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28"/>
              </a:lnSpc>
            </a:pPr>
            <a:r>
              <a:rPr lang="en-US" sz="2098" b="1" spc="20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WHALING &amp; CLONE PHISHING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44710" y="2251013"/>
            <a:ext cx="2896140" cy="892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44"/>
              </a:lnSpc>
            </a:pPr>
            <a:r>
              <a:rPr lang="en-US" sz="549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37174" y="2251013"/>
            <a:ext cx="2896140" cy="892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44"/>
              </a:lnSpc>
            </a:pPr>
            <a:r>
              <a:rPr lang="en-US" sz="549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44710" y="4745186"/>
            <a:ext cx="2896140" cy="2466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77"/>
              </a:lnSpc>
            </a:pPr>
            <a:r>
              <a:rPr lang="en-US" sz="1520" spc="15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Highly targeted attack using OSINT data gathered from LinkedIn, social media, and company websites. Attackers craft personalized messages that appear legitimate, dramatically increasing success rates against individuals.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37174" y="4745186"/>
            <a:ext cx="2896140" cy="271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77"/>
              </a:lnSpc>
            </a:pPr>
            <a:r>
              <a:rPr lang="en-US" sz="1520" spc="15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Whaling: Targets C-suite executives (CEO, CFO) to gain strategic data or authorize large financial transfers. Clone Phishing: Duplicates a legitimate email, replacing links or attachments with malicious payloads — nearly identical to the original.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129638" y="3590813"/>
            <a:ext cx="2896140" cy="687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28"/>
              </a:lnSpc>
            </a:pPr>
            <a:r>
              <a:rPr lang="en-US" sz="2098" b="1" spc="20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QUISHING (QR PHISHING)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129638" y="2251013"/>
            <a:ext cx="2896140" cy="892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44"/>
              </a:lnSpc>
            </a:pPr>
            <a:r>
              <a:rPr lang="en-US" sz="549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129638" y="4745186"/>
            <a:ext cx="2896140" cy="2466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77"/>
              </a:lnSpc>
            </a:pPr>
            <a:r>
              <a:rPr lang="en-US" sz="1520" spc="15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Embeds malicious URLs inside QR codes to bypass Secure Email Gateways (SEGs). Victims scan codes via mobile devices, which often lack enterprise-grade URL filtering, redirecting them to credential-harvesting portals.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2057400" y="-1612744"/>
            <a:ext cx="16230600" cy="6600444"/>
          </a:xfrm>
          <a:custGeom>
            <a:avLst/>
            <a:gdLst/>
            <a:ahLst/>
            <a:cxnLst/>
            <a:rect l="l" t="t" r="r" b="b"/>
            <a:pathLst>
              <a:path w="16230600" h="6600444">
                <a:moveTo>
                  <a:pt x="16230600" y="0"/>
                </a:moveTo>
                <a:lnTo>
                  <a:pt x="0" y="0"/>
                </a:lnTo>
                <a:lnTo>
                  <a:pt x="0" y="6600444"/>
                </a:lnTo>
                <a:lnTo>
                  <a:pt x="16230600" y="6600444"/>
                </a:lnTo>
                <a:lnTo>
                  <a:pt x="162306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5801561"/>
            <a:ext cx="5377222" cy="3775908"/>
            <a:chOff x="0" y="0"/>
            <a:chExt cx="1416223" cy="9944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16223" cy="994478"/>
            </a:xfrm>
            <a:custGeom>
              <a:avLst/>
              <a:gdLst/>
              <a:ahLst/>
              <a:cxnLst/>
              <a:rect l="l" t="t" r="r" b="b"/>
              <a:pathLst>
                <a:path w="1416223" h="994478">
                  <a:moveTo>
                    <a:pt x="28795" y="0"/>
                  </a:moveTo>
                  <a:lnTo>
                    <a:pt x="1387428" y="0"/>
                  </a:lnTo>
                  <a:cubicBezTo>
                    <a:pt x="1395065" y="0"/>
                    <a:pt x="1402389" y="3034"/>
                    <a:pt x="1407789" y="8434"/>
                  </a:cubicBezTo>
                  <a:cubicBezTo>
                    <a:pt x="1413189" y="13834"/>
                    <a:pt x="1416223" y="21158"/>
                    <a:pt x="1416223" y="28795"/>
                  </a:cubicBezTo>
                  <a:lnTo>
                    <a:pt x="1416223" y="965683"/>
                  </a:lnTo>
                  <a:cubicBezTo>
                    <a:pt x="1416223" y="973319"/>
                    <a:pt x="1413189" y="980644"/>
                    <a:pt x="1407789" y="986044"/>
                  </a:cubicBezTo>
                  <a:cubicBezTo>
                    <a:pt x="1402389" y="991444"/>
                    <a:pt x="1395065" y="994478"/>
                    <a:pt x="1387428" y="994478"/>
                  </a:cubicBezTo>
                  <a:lnTo>
                    <a:pt x="28795" y="994478"/>
                  </a:lnTo>
                  <a:cubicBezTo>
                    <a:pt x="12892" y="994478"/>
                    <a:pt x="0" y="981586"/>
                    <a:pt x="0" y="965683"/>
                  </a:cubicBezTo>
                  <a:lnTo>
                    <a:pt x="0" y="28795"/>
                  </a:lnTo>
                  <a:cubicBezTo>
                    <a:pt x="0" y="21158"/>
                    <a:pt x="3034" y="13834"/>
                    <a:pt x="8434" y="8434"/>
                  </a:cubicBezTo>
                  <a:cubicBezTo>
                    <a:pt x="13834" y="3034"/>
                    <a:pt x="21158" y="0"/>
                    <a:pt x="2879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50000"/>
                  </a:srgbClr>
                </a:gs>
                <a:gs pos="100000">
                  <a:srgbClr val="0A2C92">
                    <a:alpha val="5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416223" cy="1042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72043" y="5801561"/>
            <a:ext cx="5377222" cy="3775908"/>
            <a:chOff x="0" y="0"/>
            <a:chExt cx="1416223" cy="9944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16223" cy="994478"/>
            </a:xfrm>
            <a:custGeom>
              <a:avLst/>
              <a:gdLst/>
              <a:ahLst/>
              <a:cxnLst/>
              <a:rect l="l" t="t" r="r" b="b"/>
              <a:pathLst>
                <a:path w="1416223" h="994478">
                  <a:moveTo>
                    <a:pt x="28795" y="0"/>
                  </a:moveTo>
                  <a:lnTo>
                    <a:pt x="1387428" y="0"/>
                  </a:lnTo>
                  <a:cubicBezTo>
                    <a:pt x="1395065" y="0"/>
                    <a:pt x="1402389" y="3034"/>
                    <a:pt x="1407789" y="8434"/>
                  </a:cubicBezTo>
                  <a:cubicBezTo>
                    <a:pt x="1413189" y="13834"/>
                    <a:pt x="1416223" y="21158"/>
                    <a:pt x="1416223" y="28795"/>
                  </a:cubicBezTo>
                  <a:lnTo>
                    <a:pt x="1416223" y="965683"/>
                  </a:lnTo>
                  <a:cubicBezTo>
                    <a:pt x="1416223" y="973319"/>
                    <a:pt x="1413189" y="980644"/>
                    <a:pt x="1407789" y="986044"/>
                  </a:cubicBezTo>
                  <a:cubicBezTo>
                    <a:pt x="1402389" y="991444"/>
                    <a:pt x="1395065" y="994478"/>
                    <a:pt x="1387428" y="994478"/>
                  </a:cubicBezTo>
                  <a:lnTo>
                    <a:pt x="28795" y="994478"/>
                  </a:lnTo>
                  <a:cubicBezTo>
                    <a:pt x="12892" y="994478"/>
                    <a:pt x="0" y="981586"/>
                    <a:pt x="0" y="965683"/>
                  </a:cubicBezTo>
                  <a:lnTo>
                    <a:pt x="0" y="28795"/>
                  </a:lnTo>
                  <a:cubicBezTo>
                    <a:pt x="0" y="21158"/>
                    <a:pt x="3034" y="13834"/>
                    <a:pt x="8434" y="8434"/>
                  </a:cubicBezTo>
                  <a:cubicBezTo>
                    <a:pt x="13834" y="3034"/>
                    <a:pt x="21158" y="0"/>
                    <a:pt x="2879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50000"/>
                  </a:srgbClr>
                </a:gs>
                <a:gs pos="100000">
                  <a:srgbClr val="0A2C92">
                    <a:alpha val="5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416223" cy="1042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090345" y="5174595"/>
            <a:ext cx="1253932" cy="125393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2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33688" y="5174595"/>
            <a:ext cx="1253932" cy="125393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2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3337475" y="5432188"/>
            <a:ext cx="748386" cy="679516"/>
          </a:xfrm>
          <a:custGeom>
            <a:avLst/>
            <a:gdLst/>
            <a:ahLst/>
            <a:cxnLst/>
            <a:rect l="l" t="t" r="r" b="b"/>
            <a:pathLst>
              <a:path w="748386" h="679516">
                <a:moveTo>
                  <a:pt x="0" y="0"/>
                </a:moveTo>
                <a:lnTo>
                  <a:pt x="748386" y="0"/>
                </a:lnTo>
                <a:lnTo>
                  <a:pt x="748386" y="679516"/>
                </a:lnTo>
                <a:lnTo>
                  <a:pt x="0" y="6795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2315386" y="5801561"/>
            <a:ext cx="5377222" cy="3775908"/>
            <a:chOff x="0" y="0"/>
            <a:chExt cx="1416223" cy="99447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16223" cy="994478"/>
            </a:xfrm>
            <a:custGeom>
              <a:avLst/>
              <a:gdLst/>
              <a:ahLst/>
              <a:cxnLst/>
              <a:rect l="l" t="t" r="r" b="b"/>
              <a:pathLst>
                <a:path w="1416223" h="994478">
                  <a:moveTo>
                    <a:pt x="28795" y="0"/>
                  </a:moveTo>
                  <a:lnTo>
                    <a:pt x="1387428" y="0"/>
                  </a:lnTo>
                  <a:cubicBezTo>
                    <a:pt x="1395065" y="0"/>
                    <a:pt x="1402389" y="3034"/>
                    <a:pt x="1407789" y="8434"/>
                  </a:cubicBezTo>
                  <a:cubicBezTo>
                    <a:pt x="1413189" y="13834"/>
                    <a:pt x="1416223" y="21158"/>
                    <a:pt x="1416223" y="28795"/>
                  </a:cubicBezTo>
                  <a:lnTo>
                    <a:pt x="1416223" y="965683"/>
                  </a:lnTo>
                  <a:cubicBezTo>
                    <a:pt x="1416223" y="973319"/>
                    <a:pt x="1413189" y="980644"/>
                    <a:pt x="1407789" y="986044"/>
                  </a:cubicBezTo>
                  <a:cubicBezTo>
                    <a:pt x="1402389" y="991444"/>
                    <a:pt x="1395065" y="994478"/>
                    <a:pt x="1387428" y="994478"/>
                  </a:cubicBezTo>
                  <a:lnTo>
                    <a:pt x="28795" y="994478"/>
                  </a:lnTo>
                  <a:cubicBezTo>
                    <a:pt x="12892" y="994478"/>
                    <a:pt x="0" y="981586"/>
                    <a:pt x="0" y="965683"/>
                  </a:cubicBezTo>
                  <a:lnTo>
                    <a:pt x="0" y="28795"/>
                  </a:lnTo>
                  <a:cubicBezTo>
                    <a:pt x="0" y="21158"/>
                    <a:pt x="3034" y="13834"/>
                    <a:pt x="8434" y="8434"/>
                  </a:cubicBezTo>
                  <a:cubicBezTo>
                    <a:pt x="13834" y="3034"/>
                    <a:pt x="21158" y="0"/>
                    <a:pt x="2879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100000"/>
                  </a:srgbClr>
                </a:gs>
                <a:gs pos="100000">
                  <a:srgbClr val="0A2C92">
                    <a:alpha val="10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416223" cy="1042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377031" y="5174595"/>
            <a:ext cx="1253932" cy="1253932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20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9041586" y="5431782"/>
            <a:ext cx="650069" cy="602058"/>
          </a:xfrm>
          <a:custGeom>
            <a:avLst/>
            <a:gdLst/>
            <a:ahLst/>
            <a:cxnLst/>
            <a:rect l="l" t="t" r="r" b="b"/>
            <a:pathLst>
              <a:path w="650069" h="602058">
                <a:moveTo>
                  <a:pt x="0" y="0"/>
                </a:moveTo>
                <a:lnTo>
                  <a:pt x="650069" y="0"/>
                </a:lnTo>
                <a:lnTo>
                  <a:pt x="650069" y="602058"/>
                </a:lnTo>
                <a:lnTo>
                  <a:pt x="0" y="6020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4697036" y="5415106"/>
            <a:ext cx="612205" cy="674786"/>
          </a:xfrm>
          <a:custGeom>
            <a:avLst/>
            <a:gdLst/>
            <a:ahLst/>
            <a:cxnLst/>
            <a:rect l="l" t="t" r="r" b="b"/>
            <a:pathLst>
              <a:path w="612205" h="674786">
                <a:moveTo>
                  <a:pt x="0" y="0"/>
                </a:moveTo>
                <a:lnTo>
                  <a:pt x="612205" y="0"/>
                </a:lnTo>
                <a:lnTo>
                  <a:pt x="612205" y="674786"/>
                </a:lnTo>
                <a:lnTo>
                  <a:pt x="0" y="6747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028700" y="2748969"/>
            <a:ext cx="11020565" cy="2263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93"/>
              </a:lnSpc>
              <a:spcBef>
                <a:spcPct val="0"/>
              </a:spcBef>
            </a:pPr>
            <a:r>
              <a:rPr lang="en-US" sz="649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TECHNICAL EMAIL THREAT MARKERS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7249" y="6732314"/>
            <a:ext cx="4700125" cy="344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28"/>
              </a:lnSpc>
            </a:pPr>
            <a:r>
              <a:rPr lang="en-US" sz="2098" b="1" spc="20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SENDER &amp; DOMAIN ANALYSIS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10592" y="6560864"/>
            <a:ext cx="4700125" cy="687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28"/>
              </a:lnSpc>
            </a:pPr>
            <a:r>
              <a:rPr lang="en-US" sz="2098" b="1" spc="20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URGENCY &amp; FEAR EXPLOITATION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67249" y="7399975"/>
            <a:ext cx="4700125" cy="1419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96"/>
              </a:lnSpc>
            </a:pPr>
            <a:r>
              <a:rPr lang="en-US" sz="1458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Inspect the actual FROM address — display names can be spoofed. Watch for lookalike domains: support@paypal-security-alert.com vs support@paypal.com. Check SPF, DKIM &amp; DMARC header discrepancies for signs of domain forgery or impersonation.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010592" y="7399975"/>
            <a:ext cx="4700125" cy="1419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96"/>
              </a:lnSpc>
            </a:pPr>
            <a:r>
              <a:rPr lang="en-US" sz="1458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Attackers use panic-inducing language: "Immediate action required within 1 hour to prevent legal enforcement." Threats of account suspension, legal action, or financial loss are designed to bypass rational thinking and force hasty, unverified clicks.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53935" y="6732314"/>
            <a:ext cx="4700125" cy="344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28"/>
              </a:lnSpc>
            </a:pPr>
            <a:r>
              <a:rPr lang="en-US" sz="2098" b="1" spc="20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MALICIOUS ATTACHMENTS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653935" y="7399975"/>
            <a:ext cx="4700125" cy="1419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96"/>
              </a:lnSpc>
            </a:pPr>
            <a:r>
              <a:rPr lang="en-US" sz="1458" spc="14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Double extensions: Invoice2026.pdf.exe. Macro-enabled Office files: .docm, .xlsm — never enable macros from unknown senders. Password-protected ZIP/RAR archives are used deliberately to evade automated email gateway scanners and sandbox analysis.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2162" y="4172058"/>
            <a:ext cx="6249450" cy="5062386"/>
            <a:chOff x="0" y="0"/>
            <a:chExt cx="1645946" cy="13333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46" cy="1333303"/>
            </a:xfrm>
            <a:custGeom>
              <a:avLst/>
              <a:gdLst/>
              <a:ahLst/>
              <a:cxnLst/>
              <a:rect l="l" t="t" r="r" b="b"/>
              <a:pathLst>
                <a:path w="1645946" h="1333303">
                  <a:moveTo>
                    <a:pt x="24776" y="0"/>
                  </a:moveTo>
                  <a:lnTo>
                    <a:pt x="1621169" y="0"/>
                  </a:lnTo>
                  <a:cubicBezTo>
                    <a:pt x="1634853" y="0"/>
                    <a:pt x="1645946" y="11093"/>
                    <a:pt x="1645946" y="24776"/>
                  </a:cubicBezTo>
                  <a:lnTo>
                    <a:pt x="1645946" y="1308527"/>
                  </a:lnTo>
                  <a:cubicBezTo>
                    <a:pt x="1645946" y="1322210"/>
                    <a:pt x="1634853" y="1333303"/>
                    <a:pt x="1621169" y="1333303"/>
                  </a:cubicBezTo>
                  <a:lnTo>
                    <a:pt x="24776" y="1333303"/>
                  </a:lnTo>
                  <a:cubicBezTo>
                    <a:pt x="11093" y="1333303"/>
                    <a:pt x="0" y="1322210"/>
                    <a:pt x="0" y="1308527"/>
                  </a:cubicBezTo>
                  <a:lnTo>
                    <a:pt x="0" y="24776"/>
                  </a:lnTo>
                  <a:cubicBezTo>
                    <a:pt x="0" y="11093"/>
                    <a:pt x="11093" y="0"/>
                    <a:pt x="2477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A2C92">
                    <a:alpha val="41500"/>
                  </a:srgbClr>
                </a:gs>
                <a:gs pos="100000">
                  <a:srgbClr val="B992C1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45946" cy="13809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66405" y="2544021"/>
            <a:ext cx="7892319" cy="6740521"/>
          </a:xfrm>
          <a:custGeom>
            <a:avLst/>
            <a:gdLst/>
            <a:ahLst/>
            <a:cxnLst/>
            <a:rect l="l" t="t" r="r" b="b"/>
            <a:pathLst>
              <a:path w="7892319" h="6740521">
                <a:moveTo>
                  <a:pt x="0" y="0"/>
                </a:moveTo>
                <a:lnTo>
                  <a:pt x="7892319" y="0"/>
                </a:lnTo>
                <a:lnTo>
                  <a:pt x="7892319" y="6740521"/>
                </a:lnTo>
                <a:lnTo>
                  <a:pt x="0" y="6740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 flipV="1">
            <a:off x="12305809" y="3411066"/>
            <a:ext cx="0" cy="5847234"/>
          </a:xfrm>
          <a:prstGeom prst="line">
            <a:avLst/>
          </a:prstGeom>
          <a:ln w="38100" cap="flat">
            <a:gradFill>
              <a:gsLst>
                <a:gs pos="0">
                  <a:srgbClr val="B992C1">
                    <a:alpha val="0"/>
                  </a:srgbClr>
                </a:gs>
                <a:gs pos="50000">
                  <a:srgbClr val="0A2C92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7352317" y="6322755"/>
            <a:ext cx="9906983" cy="0"/>
          </a:xfrm>
          <a:prstGeom prst="line">
            <a:avLst/>
          </a:prstGeom>
          <a:ln w="38100" cap="flat">
            <a:gradFill>
              <a:gsLst>
                <a:gs pos="0">
                  <a:srgbClr val="B992C1">
                    <a:alpha val="0"/>
                  </a:srgbClr>
                </a:gs>
                <a:gs pos="50000">
                  <a:srgbClr val="0A2C92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9517043" y="3557349"/>
            <a:ext cx="466549" cy="46654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A2C92">
                    <a:alpha val="41500"/>
                  </a:srgbClr>
                </a:gs>
                <a:gs pos="100000">
                  <a:srgbClr val="B992C1">
                    <a:alpha val="100000"/>
                  </a:srgbClr>
                </a:gs>
              </a:gsLst>
              <a:lin ang="5400000"/>
            </a:gra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7043" y="6703251"/>
            <a:ext cx="466549" cy="46654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4FF"/>
            </a:soli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2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824730" y="3557349"/>
            <a:ext cx="466549" cy="46654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A2C92">
                    <a:alpha val="41500"/>
                  </a:srgbClr>
                </a:gs>
                <a:gs pos="100000">
                  <a:srgbClr val="B992C1">
                    <a:alpha val="100000"/>
                  </a:srgbClr>
                </a:gs>
              </a:gsLst>
              <a:lin ang="5400000"/>
            </a:gra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2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824730" y="6703251"/>
            <a:ext cx="466549" cy="466549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A2C92">
                    <a:alpha val="41500"/>
                  </a:srgbClr>
                </a:gs>
                <a:gs pos="100000">
                  <a:srgbClr val="B992C1">
                    <a:alpha val="100000"/>
                  </a:srgbClr>
                </a:gs>
              </a:gsLst>
              <a:lin ang="5400000"/>
            </a:gra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20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2877800" y="-25276"/>
            <a:ext cx="5410200" cy="2609756"/>
          </a:xfrm>
          <a:custGeom>
            <a:avLst/>
            <a:gdLst/>
            <a:ahLst/>
            <a:cxnLst/>
            <a:rect l="l" t="t" r="r" b="b"/>
            <a:pathLst>
              <a:path w="11505761" h="6371315">
                <a:moveTo>
                  <a:pt x="0" y="0"/>
                </a:moveTo>
                <a:lnTo>
                  <a:pt x="11505761" y="0"/>
                </a:lnTo>
                <a:lnTo>
                  <a:pt x="11505761" y="6371315"/>
                </a:lnTo>
                <a:lnTo>
                  <a:pt x="0" y="63713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7352317" y="755684"/>
            <a:ext cx="9906983" cy="2087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31"/>
              </a:lnSpc>
              <a:spcBef>
                <a:spcPct val="0"/>
              </a:spcBef>
            </a:pPr>
            <a:r>
              <a:rPr lang="en-US" sz="595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SPOT FAKE &amp; SPOOFED WEB PORTALS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02972" y="4168594"/>
            <a:ext cx="4094691" cy="29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42"/>
              </a:lnSpc>
            </a:pPr>
            <a:r>
              <a:rPr lang="en-US" sz="1801" b="1" spc="18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DOMAIN NAME ARCHITECTURE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02972" y="7315732"/>
            <a:ext cx="4094691" cy="29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42"/>
              </a:lnSpc>
            </a:pPr>
            <a:r>
              <a:rPr lang="en-US" sz="1801" b="1" spc="180">
                <a:solidFill>
                  <a:srgbClr val="C0D4FF"/>
                </a:solidFill>
                <a:latin typeface="DM Sans Bold"/>
                <a:ea typeface="DM Sans Bold"/>
                <a:cs typeface="DM Sans Bold"/>
                <a:sym typeface="DM Sans Bold"/>
              </a:rPr>
              <a:t>SSL/TLS MISCONCEPTIONS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010659" y="4168594"/>
            <a:ext cx="4094691" cy="29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42"/>
              </a:lnSpc>
            </a:pPr>
            <a:r>
              <a:rPr lang="en-US" sz="1801" b="1" spc="18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BEHAVIORAL ANOMALIES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010659" y="7315732"/>
            <a:ext cx="4094691" cy="29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42"/>
              </a:lnSpc>
            </a:pPr>
            <a:r>
              <a:rPr lang="en-US" sz="1801" b="1" spc="18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FORCED CREDENTIAL PROMPTS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702972" y="4648995"/>
            <a:ext cx="4094691" cy="952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42"/>
              </a:lnSpc>
            </a:pPr>
            <a:r>
              <a:rPr lang="en-US" sz="1494" spc="14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Subdomain spoofing hides the real domain: paypal.com.user-verification-login.net — the actual domain is user-verification-login.net, not PayPal.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702972" y="7747660"/>
            <a:ext cx="4094691" cy="952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42"/>
              </a:lnSpc>
            </a:pPr>
            <a:r>
              <a:rPr lang="en-US" sz="1494" spc="14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HTTPS and a padlock only confirm encrypted communication — NOT site legitimacy. Attackers freely obtain SSL certificates for phishing portals.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010659" y="4648995"/>
            <a:ext cx="4094691" cy="952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42"/>
              </a:lnSpc>
            </a:pPr>
            <a:r>
              <a:rPr lang="en-US" sz="1494" spc="14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Fake portals show broken navigation links, missing legal footers, misaligned UI elements, and inconsistent branding compared to the real site.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010659" y="7747660"/>
            <a:ext cx="4094691" cy="1190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42"/>
              </a:lnSpc>
            </a:pPr>
            <a:r>
              <a:rPr lang="en-US" sz="1494" spc="14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Legitimate sites never demand credentials without user-initiated login. Unprompted login popups or redirects are a critical phishing indicator.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15164">
            <a:off x="138202" y="2514300"/>
            <a:ext cx="11359202" cy="7394170"/>
          </a:xfrm>
          <a:custGeom>
            <a:avLst/>
            <a:gdLst/>
            <a:ahLst/>
            <a:cxnLst/>
            <a:rect l="l" t="t" r="r" b="b"/>
            <a:pathLst>
              <a:path w="15883352" h="13381846">
                <a:moveTo>
                  <a:pt x="0" y="0"/>
                </a:moveTo>
                <a:lnTo>
                  <a:pt x="15883352" y="0"/>
                </a:lnTo>
                <a:lnTo>
                  <a:pt x="15883352" y="13381845"/>
                </a:lnTo>
                <a:lnTo>
                  <a:pt x="0" y="133818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548769"/>
            <a:chOff x="0" y="0"/>
            <a:chExt cx="4274726" cy="22515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251528"/>
            </a:xfrm>
            <a:custGeom>
              <a:avLst/>
              <a:gdLst/>
              <a:ahLst/>
              <a:cxnLst/>
              <a:rect l="l" t="t" r="r" b="b"/>
              <a:pathLst>
                <a:path w="4274726" h="2251528">
                  <a:moveTo>
                    <a:pt x="9540" y="0"/>
                  </a:moveTo>
                  <a:lnTo>
                    <a:pt x="4265186" y="0"/>
                  </a:lnTo>
                  <a:cubicBezTo>
                    <a:pt x="4270455" y="0"/>
                    <a:pt x="4274726" y="4271"/>
                    <a:pt x="4274726" y="9540"/>
                  </a:cubicBezTo>
                  <a:lnTo>
                    <a:pt x="4274726" y="2241988"/>
                  </a:lnTo>
                  <a:cubicBezTo>
                    <a:pt x="4274726" y="2247256"/>
                    <a:pt x="4270455" y="2251528"/>
                    <a:pt x="4265186" y="2251528"/>
                  </a:cubicBezTo>
                  <a:lnTo>
                    <a:pt x="9540" y="2251528"/>
                  </a:lnTo>
                  <a:cubicBezTo>
                    <a:pt x="7010" y="2251528"/>
                    <a:pt x="4583" y="2250523"/>
                    <a:pt x="2794" y="2248733"/>
                  </a:cubicBezTo>
                  <a:cubicBezTo>
                    <a:pt x="1005" y="2246944"/>
                    <a:pt x="0" y="2244518"/>
                    <a:pt x="0" y="2241988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close/>
                </a:path>
              </a:pathLst>
            </a:custGeom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274726" cy="2299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81867" y="1083119"/>
            <a:ext cx="7231672" cy="8449001"/>
            <a:chOff x="0" y="0"/>
            <a:chExt cx="1904638" cy="222525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04638" cy="2225251"/>
            </a:xfrm>
            <a:custGeom>
              <a:avLst/>
              <a:gdLst/>
              <a:ahLst/>
              <a:cxnLst/>
              <a:rect l="l" t="t" r="r" b="b"/>
              <a:pathLst>
                <a:path w="1904638" h="2225251">
                  <a:moveTo>
                    <a:pt x="21411" y="0"/>
                  </a:moveTo>
                  <a:lnTo>
                    <a:pt x="1883227" y="0"/>
                  </a:lnTo>
                  <a:cubicBezTo>
                    <a:pt x="1888905" y="0"/>
                    <a:pt x="1894351" y="2256"/>
                    <a:pt x="1898367" y="6271"/>
                  </a:cubicBezTo>
                  <a:cubicBezTo>
                    <a:pt x="1902382" y="10287"/>
                    <a:pt x="1904638" y="15733"/>
                    <a:pt x="1904638" y="21411"/>
                  </a:cubicBezTo>
                  <a:lnTo>
                    <a:pt x="1904638" y="2203840"/>
                  </a:lnTo>
                  <a:cubicBezTo>
                    <a:pt x="1904638" y="2209519"/>
                    <a:pt x="1902382" y="2214965"/>
                    <a:pt x="1898367" y="2218980"/>
                  </a:cubicBezTo>
                  <a:cubicBezTo>
                    <a:pt x="1894351" y="2222995"/>
                    <a:pt x="1888905" y="2225251"/>
                    <a:pt x="1883227" y="2225251"/>
                  </a:cubicBezTo>
                  <a:lnTo>
                    <a:pt x="21411" y="2225251"/>
                  </a:lnTo>
                  <a:cubicBezTo>
                    <a:pt x="15733" y="2225251"/>
                    <a:pt x="10287" y="2222995"/>
                    <a:pt x="6271" y="2218980"/>
                  </a:cubicBezTo>
                  <a:cubicBezTo>
                    <a:pt x="2256" y="2214965"/>
                    <a:pt x="0" y="2209519"/>
                    <a:pt x="0" y="2203840"/>
                  </a:cubicBezTo>
                  <a:lnTo>
                    <a:pt x="0" y="21411"/>
                  </a:lnTo>
                  <a:cubicBezTo>
                    <a:pt x="0" y="15733"/>
                    <a:pt x="2256" y="10287"/>
                    <a:pt x="6271" y="6271"/>
                  </a:cubicBezTo>
                  <a:cubicBezTo>
                    <a:pt x="10287" y="2256"/>
                    <a:pt x="15733" y="0"/>
                    <a:pt x="2141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50000"/>
                  </a:srgbClr>
                </a:gs>
                <a:gs pos="100000">
                  <a:srgbClr val="0A2C92">
                    <a:alpha val="5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904638" cy="2272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3567" y="703650"/>
            <a:ext cx="7312066" cy="9187288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1554564" y="5547551"/>
            <a:ext cx="3703916" cy="891207"/>
            <a:chOff x="0" y="0"/>
            <a:chExt cx="1053142" cy="25339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53142" cy="253399"/>
            </a:xfrm>
            <a:custGeom>
              <a:avLst/>
              <a:gdLst/>
              <a:ahLst/>
              <a:cxnLst/>
              <a:rect l="l" t="t" r="r" b="b"/>
              <a:pathLst>
                <a:path w="1053142" h="253399">
                  <a:moveTo>
                    <a:pt x="41804" y="0"/>
                  </a:moveTo>
                  <a:lnTo>
                    <a:pt x="1011338" y="0"/>
                  </a:lnTo>
                  <a:cubicBezTo>
                    <a:pt x="1034426" y="0"/>
                    <a:pt x="1053142" y="18716"/>
                    <a:pt x="1053142" y="41804"/>
                  </a:cubicBezTo>
                  <a:lnTo>
                    <a:pt x="1053142" y="211595"/>
                  </a:lnTo>
                  <a:cubicBezTo>
                    <a:pt x="1053142" y="222682"/>
                    <a:pt x="1048738" y="233315"/>
                    <a:pt x="1040898" y="241155"/>
                  </a:cubicBezTo>
                  <a:cubicBezTo>
                    <a:pt x="1033058" y="248995"/>
                    <a:pt x="1022425" y="253399"/>
                    <a:pt x="1011338" y="253399"/>
                  </a:cubicBezTo>
                  <a:lnTo>
                    <a:pt x="41804" y="253399"/>
                  </a:lnTo>
                  <a:cubicBezTo>
                    <a:pt x="30717" y="253399"/>
                    <a:pt x="20084" y="248995"/>
                    <a:pt x="12244" y="241155"/>
                  </a:cubicBezTo>
                  <a:cubicBezTo>
                    <a:pt x="4404" y="233315"/>
                    <a:pt x="0" y="222682"/>
                    <a:pt x="0" y="211595"/>
                  </a:cubicBezTo>
                  <a:lnTo>
                    <a:pt x="0" y="41804"/>
                  </a:lnTo>
                  <a:cubicBezTo>
                    <a:pt x="0" y="30717"/>
                    <a:pt x="4404" y="20084"/>
                    <a:pt x="12244" y="12244"/>
                  </a:cubicBezTo>
                  <a:cubicBezTo>
                    <a:pt x="20084" y="4404"/>
                    <a:pt x="30717" y="0"/>
                    <a:pt x="4180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100000"/>
                  </a:srgbClr>
                </a:gs>
                <a:gs pos="100000">
                  <a:srgbClr val="0A2C92">
                    <a:alpha val="10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B992C1">
                      <a:alpha val="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053142" cy="281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79"/>
                </a:lnSpc>
              </a:pPr>
              <a:r>
                <a:rPr lang="en-US" sz="1200" b="1" spc="12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URGENCY &amp; FEAR EXPLOITATION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54564" y="6737107"/>
            <a:ext cx="3703916" cy="891207"/>
            <a:chOff x="0" y="0"/>
            <a:chExt cx="1053142" cy="25339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53142" cy="253399"/>
            </a:xfrm>
            <a:custGeom>
              <a:avLst/>
              <a:gdLst/>
              <a:ahLst/>
              <a:cxnLst/>
              <a:rect l="l" t="t" r="r" b="b"/>
              <a:pathLst>
                <a:path w="1053142" h="253399">
                  <a:moveTo>
                    <a:pt x="41804" y="0"/>
                  </a:moveTo>
                  <a:lnTo>
                    <a:pt x="1011338" y="0"/>
                  </a:lnTo>
                  <a:cubicBezTo>
                    <a:pt x="1034426" y="0"/>
                    <a:pt x="1053142" y="18716"/>
                    <a:pt x="1053142" y="41804"/>
                  </a:cubicBezTo>
                  <a:lnTo>
                    <a:pt x="1053142" y="211595"/>
                  </a:lnTo>
                  <a:cubicBezTo>
                    <a:pt x="1053142" y="222682"/>
                    <a:pt x="1048738" y="233315"/>
                    <a:pt x="1040898" y="241155"/>
                  </a:cubicBezTo>
                  <a:cubicBezTo>
                    <a:pt x="1033058" y="248995"/>
                    <a:pt x="1022425" y="253399"/>
                    <a:pt x="1011338" y="253399"/>
                  </a:cubicBezTo>
                  <a:lnTo>
                    <a:pt x="41804" y="253399"/>
                  </a:lnTo>
                  <a:cubicBezTo>
                    <a:pt x="30717" y="253399"/>
                    <a:pt x="20084" y="248995"/>
                    <a:pt x="12244" y="241155"/>
                  </a:cubicBezTo>
                  <a:cubicBezTo>
                    <a:pt x="4404" y="233315"/>
                    <a:pt x="0" y="222682"/>
                    <a:pt x="0" y="211595"/>
                  </a:cubicBezTo>
                  <a:lnTo>
                    <a:pt x="0" y="41804"/>
                  </a:lnTo>
                  <a:cubicBezTo>
                    <a:pt x="0" y="30717"/>
                    <a:pt x="4404" y="20084"/>
                    <a:pt x="12244" y="12244"/>
                  </a:cubicBezTo>
                  <a:cubicBezTo>
                    <a:pt x="20084" y="4404"/>
                    <a:pt x="30717" y="0"/>
                    <a:pt x="4180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50000"/>
                  </a:srgbClr>
                </a:gs>
                <a:gs pos="100000">
                  <a:srgbClr val="0A2C92">
                    <a:alpha val="5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B992C1">
                      <a:alpha val="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053142" cy="281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79"/>
                </a:lnSpc>
              </a:pPr>
              <a:r>
                <a:rPr lang="en-US" sz="1200" b="1" spc="12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AUTHORITY &amp; IMPERSONATION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54564" y="7926662"/>
            <a:ext cx="3703916" cy="891207"/>
            <a:chOff x="0" y="0"/>
            <a:chExt cx="1053142" cy="25339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53142" cy="253399"/>
            </a:xfrm>
            <a:custGeom>
              <a:avLst/>
              <a:gdLst/>
              <a:ahLst/>
              <a:cxnLst/>
              <a:rect l="l" t="t" r="r" b="b"/>
              <a:pathLst>
                <a:path w="1053142" h="253399">
                  <a:moveTo>
                    <a:pt x="41804" y="0"/>
                  </a:moveTo>
                  <a:lnTo>
                    <a:pt x="1011338" y="0"/>
                  </a:lnTo>
                  <a:cubicBezTo>
                    <a:pt x="1034426" y="0"/>
                    <a:pt x="1053142" y="18716"/>
                    <a:pt x="1053142" y="41804"/>
                  </a:cubicBezTo>
                  <a:lnTo>
                    <a:pt x="1053142" y="211595"/>
                  </a:lnTo>
                  <a:cubicBezTo>
                    <a:pt x="1053142" y="222682"/>
                    <a:pt x="1048738" y="233315"/>
                    <a:pt x="1040898" y="241155"/>
                  </a:cubicBezTo>
                  <a:cubicBezTo>
                    <a:pt x="1033058" y="248995"/>
                    <a:pt x="1022425" y="253399"/>
                    <a:pt x="1011338" y="253399"/>
                  </a:cubicBezTo>
                  <a:lnTo>
                    <a:pt x="41804" y="253399"/>
                  </a:lnTo>
                  <a:cubicBezTo>
                    <a:pt x="30717" y="253399"/>
                    <a:pt x="20084" y="248995"/>
                    <a:pt x="12244" y="241155"/>
                  </a:cubicBezTo>
                  <a:cubicBezTo>
                    <a:pt x="4404" y="233315"/>
                    <a:pt x="0" y="222682"/>
                    <a:pt x="0" y="211595"/>
                  </a:cubicBezTo>
                  <a:lnTo>
                    <a:pt x="0" y="41804"/>
                  </a:lnTo>
                  <a:cubicBezTo>
                    <a:pt x="0" y="30717"/>
                    <a:pt x="4404" y="20084"/>
                    <a:pt x="12244" y="12244"/>
                  </a:cubicBezTo>
                  <a:cubicBezTo>
                    <a:pt x="20084" y="4404"/>
                    <a:pt x="30717" y="0"/>
                    <a:pt x="4180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50000"/>
                  </a:srgbClr>
                </a:gs>
                <a:gs pos="100000">
                  <a:srgbClr val="0A2C92">
                    <a:alpha val="5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B992C1">
                      <a:alpha val="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053142" cy="281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79"/>
                </a:lnSpc>
              </a:pPr>
              <a:r>
                <a:rPr lang="en-US" sz="1200" b="1" spc="12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PRETEXTING &amp; GREED TRIGGERS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561420" y="5703436"/>
            <a:ext cx="3442842" cy="254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48"/>
              </a:lnSpc>
              <a:spcBef>
                <a:spcPct val="0"/>
              </a:spcBef>
            </a:pPr>
            <a:r>
              <a:rPr lang="en-US" sz="1534" b="1" spc="153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47% OF ATTACKS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61420" y="6892991"/>
            <a:ext cx="3442842" cy="254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48"/>
              </a:lnSpc>
              <a:spcBef>
                <a:spcPct val="0"/>
              </a:spcBef>
            </a:pPr>
            <a:r>
              <a:rPr lang="en-US" sz="1534" b="1" spc="153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31% OF ATTACKS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54564" y="1538159"/>
            <a:ext cx="8042496" cy="958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65"/>
              </a:lnSpc>
              <a:spcBef>
                <a:spcPct val="0"/>
              </a:spcBef>
            </a:pPr>
            <a:r>
              <a:rPr lang="en-US" sz="276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PSYCHOLOGY OF SOCIAL ENGINEERING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54564" y="2719309"/>
            <a:ext cx="8042496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55"/>
              </a:lnSpc>
            </a:pPr>
            <a:r>
              <a:rPr lang="en-US" sz="1350" spc="13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Attackers exploit fundamental human psychology rather than technical vulnerabilities. Over 85% of successful breaches leverage at least one cognitive bias. Understanding these triggers is the first step to building a resilient human firewall against phishing and social engineering attacks.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61420" y="8082547"/>
            <a:ext cx="3442842" cy="254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48"/>
              </a:lnSpc>
              <a:spcBef>
                <a:spcPct val="0"/>
              </a:spcBef>
            </a:pPr>
            <a:r>
              <a:rPr lang="en-US" sz="1534" b="1" spc="153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22% OF ATTACKS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293726" y="3356348"/>
            <a:ext cx="16230600" cy="6600444"/>
          </a:xfrm>
          <a:custGeom>
            <a:avLst/>
            <a:gdLst/>
            <a:ahLst/>
            <a:cxnLst/>
            <a:rect l="l" t="t" r="r" b="b"/>
            <a:pathLst>
              <a:path w="16230600" h="6600444">
                <a:moveTo>
                  <a:pt x="16230600" y="0"/>
                </a:moveTo>
                <a:lnTo>
                  <a:pt x="0" y="0"/>
                </a:lnTo>
                <a:lnTo>
                  <a:pt x="0" y="6600444"/>
                </a:lnTo>
                <a:lnTo>
                  <a:pt x="16230600" y="6600444"/>
                </a:lnTo>
                <a:lnTo>
                  <a:pt x="162306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8635640" y="-3240836"/>
            <a:ext cx="10498859" cy="4269536"/>
          </a:xfrm>
          <a:custGeom>
            <a:avLst/>
            <a:gdLst/>
            <a:ahLst/>
            <a:cxnLst/>
            <a:rect l="l" t="t" r="r" b="b"/>
            <a:pathLst>
              <a:path w="10498859" h="4269536">
                <a:moveTo>
                  <a:pt x="10498859" y="0"/>
                </a:moveTo>
                <a:lnTo>
                  <a:pt x="0" y="0"/>
                </a:lnTo>
                <a:lnTo>
                  <a:pt x="0" y="4269536"/>
                </a:lnTo>
                <a:lnTo>
                  <a:pt x="10498859" y="4269536"/>
                </a:lnTo>
                <a:lnTo>
                  <a:pt x="1049885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flipV="1">
            <a:off x="9144000" y="2575154"/>
            <a:ext cx="0" cy="5912383"/>
          </a:xfrm>
          <a:prstGeom prst="line">
            <a:avLst/>
          </a:prstGeom>
          <a:ln w="38100" cap="flat">
            <a:gradFill>
              <a:gsLst>
                <a:gs pos="0">
                  <a:srgbClr val="FFFFFF">
                    <a:alpha val="100000"/>
                  </a:srgbClr>
                </a:gs>
                <a:gs pos="50000">
                  <a:srgbClr val="0A2C92">
                    <a:alpha val="100000"/>
                  </a:srgbClr>
                </a:gs>
                <a:gs pos="100000">
                  <a:srgbClr val="B992C1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069686" y="3970308"/>
            <a:ext cx="16232717" cy="0"/>
          </a:xfrm>
          <a:prstGeom prst="line">
            <a:avLst/>
          </a:prstGeom>
          <a:ln w="38100" cap="flat">
            <a:gradFill>
              <a:gsLst>
                <a:gs pos="0">
                  <a:srgbClr val="B992C1">
                    <a:alpha val="0"/>
                  </a:srgbClr>
                </a:gs>
                <a:gs pos="50000">
                  <a:srgbClr val="0A2C92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1069686" y="5384513"/>
            <a:ext cx="16232717" cy="0"/>
          </a:xfrm>
          <a:prstGeom prst="line">
            <a:avLst/>
          </a:prstGeom>
          <a:ln w="38100" cap="flat">
            <a:gradFill>
              <a:gsLst>
                <a:gs pos="0">
                  <a:srgbClr val="B992C1">
                    <a:alpha val="0"/>
                  </a:srgbClr>
                </a:gs>
                <a:gs pos="50000">
                  <a:srgbClr val="0A2C92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028700" y="1529879"/>
            <a:ext cx="7878249" cy="1045275"/>
            <a:chOff x="0" y="0"/>
            <a:chExt cx="2074930" cy="27529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74930" cy="275299"/>
            </a:xfrm>
            <a:custGeom>
              <a:avLst/>
              <a:gdLst/>
              <a:ahLst/>
              <a:cxnLst/>
              <a:rect l="l" t="t" r="r" b="b"/>
              <a:pathLst>
                <a:path w="2074930" h="275299">
                  <a:moveTo>
                    <a:pt x="19654" y="0"/>
                  </a:moveTo>
                  <a:lnTo>
                    <a:pt x="2055276" y="0"/>
                  </a:lnTo>
                  <a:cubicBezTo>
                    <a:pt x="2066130" y="0"/>
                    <a:pt x="2074930" y="8799"/>
                    <a:pt x="2074930" y="19654"/>
                  </a:cubicBezTo>
                  <a:lnTo>
                    <a:pt x="2074930" y="255645"/>
                  </a:lnTo>
                  <a:cubicBezTo>
                    <a:pt x="2074930" y="266499"/>
                    <a:pt x="2066130" y="275299"/>
                    <a:pt x="2055276" y="275299"/>
                  </a:cubicBezTo>
                  <a:lnTo>
                    <a:pt x="19654" y="275299"/>
                  </a:lnTo>
                  <a:cubicBezTo>
                    <a:pt x="8799" y="275299"/>
                    <a:pt x="0" y="266499"/>
                    <a:pt x="0" y="255645"/>
                  </a:cubicBezTo>
                  <a:lnTo>
                    <a:pt x="0" y="19654"/>
                  </a:lnTo>
                  <a:cubicBezTo>
                    <a:pt x="0" y="8799"/>
                    <a:pt x="8799" y="0"/>
                    <a:pt x="1965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50000"/>
                  </a:srgbClr>
                </a:gs>
                <a:gs pos="100000">
                  <a:srgbClr val="0A2C92">
                    <a:alpha val="5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2074930" cy="3038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72"/>
                </a:lnSpc>
              </a:pPr>
              <a:r>
                <a:rPr lang="en-US" sz="1694" b="1" spc="50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ATTACK SEQUENCE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381051" y="1529879"/>
            <a:ext cx="7878249" cy="1045275"/>
            <a:chOff x="0" y="0"/>
            <a:chExt cx="2074930" cy="27529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74930" cy="275299"/>
            </a:xfrm>
            <a:custGeom>
              <a:avLst/>
              <a:gdLst/>
              <a:ahLst/>
              <a:cxnLst/>
              <a:rect l="l" t="t" r="r" b="b"/>
              <a:pathLst>
                <a:path w="2074930" h="275299">
                  <a:moveTo>
                    <a:pt x="19654" y="0"/>
                  </a:moveTo>
                  <a:lnTo>
                    <a:pt x="2055276" y="0"/>
                  </a:lnTo>
                  <a:cubicBezTo>
                    <a:pt x="2066130" y="0"/>
                    <a:pt x="2074930" y="8799"/>
                    <a:pt x="2074930" y="19654"/>
                  </a:cubicBezTo>
                  <a:lnTo>
                    <a:pt x="2074930" y="255645"/>
                  </a:lnTo>
                  <a:cubicBezTo>
                    <a:pt x="2074930" y="266499"/>
                    <a:pt x="2066130" y="275299"/>
                    <a:pt x="2055276" y="275299"/>
                  </a:cubicBezTo>
                  <a:lnTo>
                    <a:pt x="19654" y="275299"/>
                  </a:lnTo>
                  <a:cubicBezTo>
                    <a:pt x="8799" y="275299"/>
                    <a:pt x="0" y="266499"/>
                    <a:pt x="0" y="255645"/>
                  </a:cubicBezTo>
                  <a:lnTo>
                    <a:pt x="0" y="19654"/>
                  </a:lnTo>
                  <a:cubicBezTo>
                    <a:pt x="0" y="8799"/>
                    <a:pt x="8799" y="0"/>
                    <a:pt x="1965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100000"/>
                  </a:srgbClr>
                </a:gs>
                <a:gs pos="100000">
                  <a:srgbClr val="0A2C92">
                    <a:alpha val="10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074930" cy="3038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72"/>
                </a:lnSpc>
              </a:pPr>
              <a:r>
                <a:rPr lang="en-US" sz="1694" b="1" spc="50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DEFENSE RESPONSE: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1069686" y="6798717"/>
            <a:ext cx="16232717" cy="0"/>
          </a:xfrm>
          <a:prstGeom prst="line">
            <a:avLst/>
          </a:prstGeom>
          <a:ln w="38100" cap="flat">
            <a:gradFill>
              <a:gsLst>
                <a:gs pos="0">
                  <a:srgbClr val="B992C1">
                    <a:alpha val="0"/>
                  </a:srgbClr>
                </a:gs>
                <a:gs pos="50000">
                  <a:srgbClr val="0A2C92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1069686" y="8212922"/>
            <a:ext cx="16232717" cy="0"/>
          </a:xfrm>
          <a:prstGeom prst="line">
            <a:avLst/>
          </a:prstGeom>
          <a:ln w="38100" cap="flat">
            <a:gradFill>
              <a:gsLst>
                <a:gs pos="0">
                  <a:srgbClr val="B992C1">
                    <a:alpha val="0"/>
                  </a:srgbClr>
                </a:gs>
                <a:gs pos="50000">
                  <a:srgbClr val="0A2C92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028700" y="3132078"/>
            <a:ext cx="7878249" cy="229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36"/>
              </a:lnSpc>
            </a:pPr>
            <a:r>
              <a:rPr lang="en-US" sz="1412" spc="14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Step 1: Hacker compromises or spoofs a trusted external vendor email domain.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4546282"/>
            <a:ext cx="7878249" cy="229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36"/>
              </a:lnSpc>
            </a:pPr>
            <a:r>
              <a:rPr lang="en-US" sz="1412" spc="14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Step 2: Modified invoice sent to Finance with fraudulent bank routing number.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82125" y="3017778"/>
            <a:ext cx="7878249" cy="458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36"/>
              </a:lnSpc>
            </a:pPr>
            <a:r>
              <a:rPr lang="en-US" sz="1412" spc="14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Scenario: Supplier Invoice Impersonation — attacker mimics a known vendor to redirect payment.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82125" y="4431982"/>
            <a:ext cx="7878249" cy="458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36"/>
              </a:lnSpc>
            </a:pPr>
            <a:r>
              <a:rPr lang="en-US" sz="1412" spc="14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Out-of-Band (OOB) Authentication: Call the vendor on a trusted, pre-verified phone number — never the number listed in the suspicious email.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21574" y="8992362"/>
            <a:ext cx="4644851" cy="28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2"/>
              </a:lnSpc>
              <a:spcBef>
                <a:spcPct val="0"/>
              </a:spcBef>
            </a:pPr>
            <a:r>
              <a:rPr lang="en-US" sz="1694" i="1" spc="169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CodeAlpha — Muhammad Israr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5846187"/>
            <a:ext cx="7878249" cy="458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36"/>
              </a:lnSpc>
            </a:pPr>
            <a:r>
              <a:rPr lang="en-US" sz="1412" spc="14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Step 3: Urgent language — "Overdue payment, act now" — pressures Finance to bypass verification.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82125" y="5846187"/>
            <a:ext cx="7878249" cy="458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36"/>
              </a:lnSpc>
            </a:pPr>
            <a:r>
              <a:rPr lang="en-US" sz="1412" spc="14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Verify all unexpected financial requests via a secondary, independent communication channel before processing any wire transfer.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7260391"/>
            <a:ext cx="7878249" cy="458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36"/>
              </a:lnSpc>
            </a:pPr>
            <a:r>
              <a:rPr lang="en-US" sz="1412" spc="14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Result: Without verification, funds are wired directly to attacker-controlled account — BEC loss confirmed.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82125" y="7260391"/>
            <a:ext cx="7878249" cy="458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36"/>
              </a:lnSpc>
            </a:pPr>
            <a:r>
              <a:rPr lang="en-US" sz="1412" spc="14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Escalate immediately to the security team and freeze transaction if fraud is suspected. Report the incident through official phishing reporting channels.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1353800" y="-672303"/>
            <a:ext cx="6934200" cy="6600444"/>
          </a:xfrm>
          <a:custGeom>
            <a:avLst/>
            <a:gdLst/>
            <a:ahLst/>
            <a:cxnLst/>
            <a:rect l="l" t="t" r="r" b="b"/>
            <a:pathLst>
              <a:path w="16230600" h="6600444">
                <a:moveTo>
                  <a:pt x="16230600" y="0"/>
                </a:moveTo>
                <a:lnTo>
                  <a:pt x="0" y="0"/>
                </a:lnTo>
                <a:lnTo>
                  <a:pt x="0" y="6600444"/>
                </a:lnTo>
                <a:lnTo>
                  <a:pt x="16230600" y="6600444"/>
                </a:lnTo>
                <a:lnTo>
                  <a:pt x="162306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762244" flipH="1">
            <a:off x="-110722" y="-1111796"/>
            <a:ext cx="5011664" cy="6280178"/>
          </a:xfrm>
          <a:custGeom>
            <a:avLst/>
            <a:gdLst/>
            <a:ahLst/>
            <a:cxnLst/>
            <a:rect l="l" t="t" r="r" b="b"/>
            <a:pathLst>
              <a:path w="16230600" h="6600444">
                <a:moveTo>
                  <a:pt x="16230600" y="0"/>
                </a:moveTo>
                <a:lnTo>
                  <a:pt x="0" y="0"/>
                </a:lnTo>
                <a:lnTo>
                  <a:pt x="0" y="6600444"/>
                </a:lnTo>
                <a:lnTo>
                  <a:pt x="16230600" y="6600444"/>
                </a:lnTo>
                <a:lnTo>
                  <a:pt x="162306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7063571"/>
            <a:ext cx="4603833" cy="3232831"/>
            <a:chOff x="0" y="0"/>
            <a:chExt cx="1416223" cy="99447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16223" cy="994478"/>
            </a:xfrm>
            <a:custGeom>
              <a:avLst/>
              <a:gdLst/>
              <a:ahLst/>
              <a:cxnLst/>
              <a:rect l="l" t="t" r="r" b="b"/>
              <a:pathLst>
                <a:path w="1416223" h="994478">
                  <a:moveTo>
                    <a:pt x="33632" y="0"/>
                  </a:moveTo>
                  <a:lnTo>
                    <a:pt x="1382591" y="0"/>
                  </a:lnTo>
                  <a:cubicBezTo>
                    <a:pt x="1401165" y="0"/>
                    <a:pt x="1416223" y="15058"/>
                    <a:pt x="1416223" y="33632"/>
                  </a:cubicBezTo>
                  <a:lnTo>
                    <a:pt x="1416223" y="960845"/>
                  </a:lnTo>
                  <a:cubicBezTo>
                    <a:pt x="1416223" y="979420"/>
                    <a:pt x="1401165" y="994478"/>
                    <a:pt x="1382591" y="994478"/>
                  </a:cubicBezTo>
                  <a:lnTo>
                    <a:pt x="33632" y="994478"/>
                  </a:lnTo>
                  <a:cubicBezTo>
                    <a:pt x="15058" y="994478"/>
                    <a:pt x="0" y="979420"/>
                    <a:pt x="0" y="960845"/>
                  </a:cubicBezTo>
                  <a:lnTo>
                    <a:pt x="0" y="33632"/>
                  </a:lnTo>
                  <a:cubicBezTo>
                    <a:pt x="0" y="15058"/>
                    <a:pt x="15058" y="0"/>
                    <a:pt x="336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50000"/>
                  </a:srgbClr>
                </a:gs>
                <a:gs pos="100000">
                  <a:srgbClr val="0A2C92">
                    <a:alpha val="5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416223" cy="1042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561389" y="5907775"/>
            <a:ext cx="4603833" cy="4388628"/>
            <a:chOff x="0" y="0"/>
            <a:chExt cx="1416223" cy="135002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16223" cy="1350022"/>
            </a:xfrm>
            <a:custGeom>
              <a:avLst/>
              <a:gdLst/>
              <a:ahLst/>
              <a:cxnLst/>
              <a:rect l="l" t="t" r="r" b="b"/>
              <a:pathLst>
                <a:path w="1416223" h="1350022">
                  <a:moveTo>
                    <a:pt x="33632" y="0"/>
                  </a:moveTo>
                  <a:lnTo>
                    <a:pt x="1382591" y="0"/>
                  </a:lnTo>
                  <a:cubicBezTo>
                    <a:pt x="1401165" y="0"/>
                    <a:pt x="1416223" y="15058"/>
                    <a:pt x="1416223" y="33632"/>
                  </a:cubicBezTo>
                  <a:lnTo>
                    <a:pt x="1416223" y="1316389"/>
                  </a:lnTo>
                  <a:cubicBezTo>
                    <a:pt x="1416223" y="1334964"/>
                    <a:pt x="1401165" y="1350022"/>
                    <a:pt x="1382591" y="1350022"/>
                  </a:cubicBezTo>
                  <a:lnTo>
                    <a:pt x="33632" y="1350022"/>
                  </a:lnTo>
                  <a:cubicBezTo>
                    <a:pt x="15058" y="1350022"/>
                    <a:pt x="0" y="1334964"/>
                    <a:pt x="0" y="1316389"/>
                  </a:cubicBezTo>
                  <a:lnTo>
                    <a:pt x="0" y="33632"/>
                  </a:lnTo>
                  <a:cubicBezTo>
                    <a:pt x="0" y="15058"/>
                    <a:pt x="15058" y="0"/>
                    <a:pt x="336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50000"/>
                  </a:srgbClr>
                </a:gs>
                <a:gs pos="100000">
                  <a:srgbClr val="0A2C92">
                    <a:alpha val="5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416223" cy="13976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65125" y="6526780"/>
            <a:ext cx="1073583" cy="107358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2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326514" y="5370983"/>
            <a:ext cx="1073583" cy="107358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2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22778" y="4751978"/>
            <a:ext cx="4603833" cy="5535022"/>
            <a:chOff x="0" y="0"/>
            <a:chExt cx="1416223" cy="170267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16223" cy="1702674"/>
            </a:xfrm>
            <a:custGeom>
              <a:avLst/>
              <a:gdLst/>
              <a:ahLst/>
              <a:cxnLst/>
              <a:rect l="l" t="t" r="r" b="b"/>
              <a:pathLst>
                <a:path w="1416223" h="1702674">
                  <a:moveTo>
                    <a:pt x="33632" y="0"/>
                  </a:moveTo>
                  <a:lnTo>
                    <a:pt x="1382591" y="0"/>
                  </a:lnTo>
                  <a:cubicBezTo>
                    <a:pt x="1401165" y="0"/>
                    <a:pt x="1416223" y="15058"/>
                    <a:pt x="1416223" y="33632"/>
                  </a:cubicBezTo>
                  <a:lnTo>
                    <a:pt x="1416223" y="1669041"/>
                  </a:lnTo>
                  <a:cubicBezTo>
                    <a:pt x="1416223" y="1687616"/>
                    <a:pt x="1401165" y="1702674"/>
                    <a:pt x="1382591" y="1702674"/>
                  </a:cubicBezTo>
                  <a:lnTo>
                    <a:pt x="33632" y="1702674"/>
                  </a:lnTo>
                  <a:cubicBezTo>
                    <a:pt x="15058" y="1702674"/>
                    <a:pt x="0" y="1687616"/>
                    <a:pt x="0" y="1669041"/>
                  </a:cubicBezTo>
                  <a:lnTo>
                    <a:pt x="0" y="33632"/>
                  </a:lnTo>
                  <a:cubicBezTo>
                    <a:pt x="0" y="15058"/>
                    <a:pt x="15058" y="0"/>
                    <a:pt x="336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100000"/>
                  </a:srgbClr>
                </a:gs>
                <a:gs pos="100000">
                  <a:srgbClr val="0A2C92">
                    <a:alpha val="10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416223" cy="1750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887903" y="4215187"/>
            <a:ext cx="1073583" cy="107358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2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684167" y="3596182"/>
            <a:ext cx="4603833" cy="6690818"/>
            <a:chOff x="0" y="0"/>
            <a:chExt cx="1416223" cy="205821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16223" cy="2058218"/>
            </a:xfrm>
            <a:custGeom>
              <a:avLst/>
              <a:gdLst/>
              <a:ahLst/>
              <a:cxnLst/>
              <a:rect l="l" t="t" r="r" b="b"/>
              <a:pathLst>
                <a:path w="1416223" h="2058218">
                  <a:moveTo>
                    <a:pt x="33632" y="0"/>
                  </a:moveTo>
                  <a:lnTo>
                    <a:pt x="1382591" y="0"/>
                  </a:lnTo>
                  <a:cubicBezTo>
                    <a:pt x="1401165" y="0"/>
                    <a:pt x="1416223" y="15058"/>
                    <a:pt x="1416223" y="33632"/>
                  </a:cubicBezTo>
                  <a:lnTo>
                    <a:pt x="1416223" y="2024585"/>
                  </a:lnTo>
                  <a:cubicBezTo>
                    <a:pt x="1416223" y="2043160"/>
                    <a:pt x="1401165" y="2058218"/>
                    <a:pt x="1382591" y="2058218"/>
                  </a:cubicBezTo>
                  <a:lnTo>
                    <a:pt x="33632" y="2058218"/>
                  </a:lnTo>
                  <a:cubicBezTo>
                    <a:pt x="15058" y="2058218"/>
                    <a:pt x="0" y="2043160"/>
                    <a:pt x="0" y="2024585"/>
                  </a:cubicBezTo>
                  <a:lnTo>
                    <a:pt x="0" y="33632"/>
                  </a:lnTo>
                  <a:cubicBezTo>
                    <a:pt x="0" y="15058"/>
                    <a:pt x="15058" y="0"/>
                    <a:pt x="336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50000"/>
                  </a:srgbClr>
                </a:gs>
                <a:gs pos="100000">
                  <a:srgbClr val="0A2C92">
                    <a:alpha val="5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416223" cy="2105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5449292" y="3059390"/>
            <a:ext cx="1073583" cy="1073583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20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2015666" y="6713354"/>
            <a:ext cx="581065" cy="675747"/>
          </a:xfrm>
          <a:custGeom>
            <a:avLst/>
            <a:gdLst/>
            <a:ahLst/>
            <a:cxnLst/>
            <a:rect l="l" t="t" r="r" b="b"/>
            <a:pathLst>
              <a:path w="581065" h="675747">
                <a:moveTo>
                  <a:pt x="0" y="0"/>
                </a:moveTo>
                <a:lnTo>
                  <a:pt x="581065" y="0"/>
                </a:lnTo>
                <a:lnTo>
                  <a:pt x="581065" y="675748"/>
                </a:lnTo>
                <a:lnTo>
                  <a:pt x="0" y="6757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6611197" y="5613530"/>
            <a:ext cx="585835" cy="556543"/>
          </a:xfrm>
          <a:custGeom>
            <a:avLst/>
            <a:gdLst/>
            <a:ahLst/>
            <a:cxnLst/>
            <a:rect l="l" t="t" r="r" b="b"/>
            <a:pathLst>
              <a:path w="585835" h="556543">
                <a:moveTo>
                  <a:pt x="0" y="0"/>
                </a:moveTo>
                <a:lnTo>
                  <a:pt x="585835" y="0"/>
                </a:lnTo>
                <a:lnTo>
                  <a:pt x="585835" y="556543"/>
                </a:lnTo>
                <a:lnTo>
                  <a:pt x="0" y="5565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1114508" y="4473054"/>
            <a:ext cx="626871" cy="543516"/>
          </a:xfrm>
          <a:custGeom>
            <a:avLst/>
            <a:gdLst/>
            <a:ahLst/>
            <a:cxnLst/>
            <a:rect l="l" t="t" r="r" b="b"/>
            <a:pathLst>
              <a:path w="626871" h="543516">
                <a:moveTo>
                  <a:pt x="0" y="0"/>
                </a:moveTo>
                <a:lnTo>
                  <a:pt x="626871" y="0"/>
                </a:lnTo>
                <a:lnTo>
                  <a:pt x="626871" y="543516"/>
                </a:lnTo>
                <a:lnTo>
                  <a:pt x="0" y="5435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5681227" y="3259121"/>
            <a:ext cx="662410" cy="795208"/>
          </a:xfrm>
          <a:custGeom>
            <a:avLst/>
            <a:gdLst/>
            <a:ahLst/>
            <a:cxnLst/>
            <a:rect l="l" t="t" r="r" b="b"/>
            <a:pathLst>
              <a:path w="662410" h="795208">
                <a:moveTo>
                  <a:pt x="0" y="0"/>
                </a:moveTo>
                <a:lnTo>
                  <a:pt x="662410" y="0"/>
                </a:lnTo>
                <a:lnTo>
                  <a:pt x="662410" y="795208"/>
                </a:lnTo>
                <a:lnTo>
                  <a:pt x="0" y="7952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289856" y="7873895"/>
            <a:ext cx="4024121" cy="273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1"/>
              </a:lnSpc>
            </a:pPr>
            <a:r>
              <a:rPr lang="en-US" sz="1693" b="1" spc="16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MULTI-FACTOR AUTHENTICATION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851245" y="7001029"/>
            <a:ext cx="4024121" cy="273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1"/>
              </a:lnSpc>
            </a:pPr>
            <a:r>
              <a:rPr lang="en-US" sz="1693" b="1" spc="16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URL HOVER INSPECTION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89856" y="8430721"/>
            <a:ext cx="4024121" cy="1362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60"/>
              </a:lnSpc>
            </a:pPr>
            <a:r>
              <a:rPr lang="en-US" sz="1431" spc="1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 FIDO2 hardware security keys or authenticator apps. Avoid SMS-based MFA due to SIM swapping vulnerabilities. Hardware tokens provide the strongest protection against phishing.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851245" y="7830732"/>
            <a:ext cx="4024121" cy="113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60"/>
              </a:lnSpc>
            </a:pPr>
            <a:r>
              <a:rPr lang="en-US" sz="1431" spc="1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Always hover over links to verify the actual destination domain and protocol before clicking. Never trust display text — inspect the true URL for lookalike domains or suspicious redirects.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412634" y="5562302"/>
            <a:ext cx="4024121" cy="273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1"/>
              </a:lnSpc>
            </a:pPr>
            <a:r>
              <a:rPr lang="en-US" sz="1693" b="1" spc="16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OUT-OF-BAND VERIFICATION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12634" y="6119128"/>
            <a:ext cx="4024121" cy="1362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60"/>
              </a:lnSpc>
            </a:pPr>
            <a:r>
              <a:rPr lang="en-US" sz="1431" spc="1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Confirm all unexpected financial requests or credential changes through a separate, trusted communication channel. Call a known number directly — never use contact details provided in the suspicious message.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974023" y="4406505"/>
            <a:ext cx="4024121" cy="273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1"/>
              </a:lnSpc>
            </a:pPr>
            <a:r>
              <a:rPr lang="en-US" sz="1693" b="1" spc="16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INCIDENT REPORTING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974023" y="4963331"/>
            <a:ext cx="4024121" cy="1362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60"/>
              </a:lnSpc>
            </a:pPr>
            <a:r>
              <a:rPr lang="en-US" sz="1431" spc="1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 your organization's "Report Phishing" tool immediately upon identifying a suspicious message. Prompt reporting triggers security response workflows and helps protect colleagues from the same threat.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28700" y="887461"/>
            <a:ext cx="12655467" cy="2441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3"/>
              </a:lnSpc>
              <a:spcBef>
                <a:spcPct val="0"/>
              </a:spcBef>
            </a:pPr>
            <a:r>
              <a:rPr lang="en-US" sz="699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MITIGATIONS &amp; DEFENSE BEST PRACTICES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3969" y="3403468"/>
            <a:ext cx="11022050" cy="6134798"/>
            <a:chOff x="0" y="0"/>
            <a:chExt cx="2298509" cy="12793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98509" cy="1279334"/>
            </a:xfrm>
            <a:custGeom>
              <a:avLst/>
              <a:gdLst/>
              <a:ahLst/>
              <a:cxnLst/>
              <a:rect l="l" t="t" r="r" b="b"/>
              <a:pathLst>
                <a:path w="2298509" h="1279334">
                  <a:moveTo>
                    <a:pt x="14048" y="0"/>
                  </a:moveTo>
                  <a:lnTo>
                    <a:pt x="2284461" y="0"/>
                  </a:lnTo>
                  <a:cubicBezTo>
                    <a:pt x="2288186" y="0"/>
                    <a:pt x="2291760" y="1480"/>
                    <a:pt x="2294394" y="4115"/>
                  </a:cubicBezTo>
                  <a:cubicBezTo>
                    <a:pt x="2297029" y="6749"/>
                    <a:pt x="2298509" y="10322"/>
                    <a:pt x="2298509" y="14048"/>
                  </a:cubicBezTo>
                  <a:lnTo>
                    <a:pt x="2298509" y="1265286"/>
                  </a:lnTo>
                  <a:cubicBezTo>
                    <a:pt x="2298509" y="1273045"/>
                    <a:pt x="2292219" y="1279334"/>
                    <a:pt x="2284461" y="1279334"/>
                  </a:cubicBezTo>
                  <a:lnTo>
                    <a:pt x="14048" y="1279334"/>
                  </a:lnTo>
                  <a:cubicBezTo>
                    <a:pt x="10322" y="1279334"/>
                    <a:pt x="6749" y="1277854"/>
                    <a:pt x="4115" y="1275220"/>
                  </a:cubicBezTo>
                  <a:cubicBezTo>
                    <a:pt x="1480" y="1272585"/>
                    <a:pt x="0" y="1269012"/>
                    <a:pt x="0" y="1265286"/>
                  </a:cubicBezTo>
                  <a:lnTo>
                    <a:pt x="0" y="14048"/>
                  </a:lnTo>
                  <a:cubicBezTo>
                    <a:pt x="0" y="6290"/>
                    <a:pt x="6290" y="0"/>
                    <a:pt x="1404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50000"/>
                  </a:srgbClr>
                </a:gs>
                <a:gs pos="100000">
                  <a:srgbClr val="0A2C92">
                    <a:alpha val="5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298509" cy="1326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419" y="3138619"/>
            <a:ext cx="10538822" cy="671665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2318919" y="4566715"/>
            <a:ext cx="1642299" cy="931309"/>
            <a:chOff x="0" y="0"/>
            <a:chExt cx="446851" cy="25339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6851" cy="253399"/>
            </a:xfrm>
            <a:custGeom>
              <a:avLst/>
              <a:gdLst/>
              <a:ahLst/>
              <a:cxnLst/>
              <a:rect l="l" t="t" r="r" b="b"/>
              <a:pathLst>
                <a:path w="446851" h="253399">
                  <a:moveTo>
                    <a:pt x="94281" y="0"/>
                  </a:moveTo>
                  <a:lnTo>
                    <a:pt x="352570" y="0"/>
                  </a:lnTo>
                  <a:cubicBezTo>
                    <a:pt x="377575" y="0"/>
                    <a:pt x="401556" y="9933"/>
                    <a:pt x="419237" y="27614"/>
                  </a:cubicBezTo>
                  <a:cubicBezTo>
                    <a:pt x="436918" y="45296"/>
                    <a:pt x="446851" y="69276"/>
                    <a:pt x="446851" y="94281"/>
                  </a:cubicBezTo>
                  <a:lnTo>
                    <a:pt x="446851" y="159117"/>
                  </a:lnTo>
                  <a:cubicBezTo>
                    <a:pt x="446851" y="184122"/>
                    <a:pt x="436918" y="208103"/>
                    <a:pt x="419237" y="225784"/>
                  </a:cubicBezTo>
                  <a:cubicBezTo>
                    <a:pt x="401556" y="243466"/>
                    <a:pt x="377575" y="253399"/>
                    <a:pt x="352570" y="253399"/>
                  </a:cubicBezTo>
                  <a:lnTo>
                    <a:pt x="94281" y="253399"/>
                  </a:lnTo>
                  <a:cubicBezTo>
                    <a:pt x="69276" y="253399"/>
                    <a:pt x="45296" y="243466"/>
                    <a:pt x="27614" y="225784"/>
                  </a:cubicBezTo>
                  <a:cubicBezTo>
                    <a:pt x="9933" y="208103"/>
                    <a:pt x="0" y="184122"/>
                    <a:pt x="0" y="159117"/>
                  </a:cubicBezTo>
                  <a:lnTo>
                    <a:pt x="0" y="94281"/>
                  </a:lnTo>
                  <a:cubicBezTo>
                    <a:pt x="0" y="69276"/>
                    <a:pt x="9933" y="45296"/>
                    <a:pt x="27614" y="27614"/>
                  </a:cubicBezTo>
                  <a:cubicBezTo>
                    <a:pt x="45296" y="9933"/>
                    <a:pt x="69276" y="0"/>
                    <a:pt x="942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100000"/>
                  </a:srgbClr>
                </a:gs>
                <a:gs pos="100000">
                  <a:srgbClr val="0A2C92">
                    <a:alpha val="10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B992C1">
                      <a:alpha val="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446851" cy="3200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86"/>
                </a:lnSpc>
              </a:pPr>
              <a:r>
                <a:rPr lang="en-US" sz="3204" b="1" spc="32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5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318919" y="6004183"/>
            <a:ext cx="1642299" cy="931309"/>
            <a:chOff x="0" y="0"/>
            <a:chExt cx="446851" cy="25339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6851" cy="253399"/>
            </a:xfrm>
            <a:custGeom>
              <a:avLst/>
              <a:gdLst/>
              <a:ahLst/>
              <a:cxnLst/>
              <a:rect l="l" t="t" r="r" b="b"/>
              <a:pathLst>
                <a:path w="446851" h="253399">
                  <a:moveTo>
                    <a:pt x="94281" y="0"/>
                  </a:moveTo>
                  <a:lnTo>
                    <a:pt x="352570" y="0"/>
                  </a:lnTo>
                  <a:cubicBezTo>
                    <a:pt x="377575" y="0"/>
                    <a:pt x="401556" y="9933"/>
                    <a:pt x="419237" y="27614"/>
                  </a:cubicBezTo>
                  <a:cubicBezTo>
                    <a:pt x="436918" y="45296"/>
                    <a:pt x="446851" y="69276"/>
                    <a:pt x="446851" y="94281"/>
                  </a:cubicBezTo>
                  <a:lnTo>
                    <a:pt x="446851" y="159117"/>
                  </a:lnTo>
                  <a:cubicBezTo>
                    <a:pt x="446851" y="184122"/>
                    <a:pt x="436918" y="208103"/>
                    <a:pt x="419237" y="225784"/>
                  </a:cubicBezTo>
                  <a:cubicBezTo>
                    <a:pt x="401556" y="243466"/>
                    <a:pt x="377575" y="253399"/>
                    <a:pt x="352570" y="253399"/>
                  </a:cubicBezTo>
                  <a:lnTo>
                    <a:pt x="94281" y="253399"/>
                  </a:lnTo>
                  <a:cubicBezTo>
                    <a:pt x="69276" y="253399"/>
                    <a:pt x="45296" y="243466"/>
                    <a:pt x="27614" y="225784"/>
                  </a:cubicBezTo>
                  <a:cubicBezTo>
                    <a:pt x="9933" y="208103"/>
                    <a:pt x="0" y="184122"/>
                    <a:pt x="0" y="159117"/>
                  </a:cubicBezTo>
                  <a:lnTo>
                    <a:pt x="0" y="94281"/>
                  </a:lnTo>
                  <a:cubicBezTo>
                    <a:pt x="0" y="69276"/>
                    <a:pt x="9933" y="45296"/>
                    <a:pt x="27614" y="27614"/>
                  </a:cubicBezTo>
                  <a:cubicBezTo>
                    <a:pt x="45296" y="9933"/>
                    <a:pt x="69276" y="0"/>
                    <a:pt x="942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100000"/>
                  </a:srgbClr>
                </a:gs>
                <a:gs pos="100000">
                  <a:srgbClr val="0A2C92">
                    <a:alpha val="10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B992C1">
                      <a:alpha val="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446851" cy="3200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86"/>
                </a:lnSpc>
              </a:pPr>
              <a:r>
                <a:rPr lang="en-US" sz="3204" b="1" spc="32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318919" y="7443709"/>
            <a:ext cx="1642299" cy="931309"/>
            <a:chOff x="0" y="0"/>
            <a:chExt cx="446851" cy="25339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46851" cy="253399"/>
            </a:xfrm>
            <a:custGeom>
              <a:avLst/>
              <a:gdLst/>
              <a:ahLst/>
              <a:cxnLst/>
              <a:rect l="l" t="t" r="r" b="b"/>
              <a:pathLst>
                <a:path w="446851" h="253399">
                  <a:moveTo>
                    <a:pt x="94281" y="0"/>
                  </a:moveTo>
                  <a:lnTo>
                    <a:pt x="352570" y="0"/>
                  </a:lnTo>
                  <a:cubicBezTo>
                    <a:pt x="377575" y="0"/>
                    <a:pt x="401556" y="9933"/>
                    <a:pt x="419237" y="27614"/>
                  </a:cubicBezTo>
                  <a:cubicBezTo>
                    <a:pt x="436918" y="45296"/>
                    <a:pt x="446851" y="69276"/>
                    <a:pt x="446851" y="94281"/>
                  </a:cubicBezTo>
                  <a:lnTo>
                    <a:pt x="446851" y="159117"/>
                  </a:lnTo>
                  <a:cubicBezTo>
                    <a:pt x="446851" y="184122"/>
                    <a:pt x="436918" y="208103"/>
                    <a:pt x="419237" y="225784"/>
                  </a:cubicBezTo>
                  <a:cubicBezTo>
                    <a:pt x="401556" y="243466"/>
                    <a:pt x="377575" y="253399"/>
                    <a:pt x="352570" y="253399"/>
                  </a:cubicBezTo>
                  <a:lnTo>
                    <a:pt x="94281" y="253399"/>
                  </a:lnTo>
                  <a:cubicBezTo>
                    <a:pt x="69276" y="253399"/>
                    <a:pt x="45296" y="243466"/>
                    <a:pt x="27614" y="225784"/>
                  </a:cubicBezTo>
                  <a:cubicBezTo>
                    <a:pt x="9933" y="208103"/>
                    <a:pt x="0" y="184122"/>
                    <a:pt x="0" y="159117"/>
                  </a:cubicBezTo>
                  <a:lnTo>
                    <a:pt x="0" y="94281"/>
                  </a:lnTo>
                  <a:cubicBezTo>
                    <a:pt x="0" y="69276"/>
                    <a:pt x="9933" y="45296"/>
                    <a:pt x="27614" y="27614"/>
                  </a:cubicBezTo>
                  <a:cubicBezTo>
                    <a:pt x="45296" y="9933"/>
                    <a:pt x="69276" y="0"/>
                    <a:pt x="942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100000"/>
                  </a:srgbClr>
                </a:gs>
                <a:gs pos="100000">
                  <a:srgbClr val="0A2C92">
                    <a:alpha val="10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B992C1">
                      <a:alpha val="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446851" cy="3200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86"/>
                </a:lnSpc>
              </a:pPr>
              <a:r>
                <a:rPr lang="en-US" sz="3204" b="1" spc="32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75%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1201400" y="-487274"/>
            <a:ext cx="6945167" cy="4144252"/>
          </a:xfrm>
          <a:custGeom>
            <a:avLst/>
            <a:gdLst/>
            <a:ahLst/>
            <a:cxnLst/>
            <a:rect l="l" t="t" r="r" b="b"/>
            <a:pathLst>
              <a:path w="12303062" h="5956732">
                <a:moveTo>
                  <a:pt x="0" y="0"/>
                </a:moveTo>
                <a:lnTo>
                  <a:pt x="12303062" y="0"/>
                </a:lnTo>
                <a:lnTo>
                  <a:pt x="12303062" y="5956733"/>
                </a:lnTo>
                <a:lnTo>
                  <a:pt x="0" y="59567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28700" y="765593"/>
            <a:ext cx="12344014" cy="1080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15"/>
              </a:lnSpc>
              <a:spcBef>
                <a:spcPct val="0"/>
              </a:spcBef>
            </a:pPr>
            <a:r>
              <a:rPr lang="en-US" sz="622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INTERACTIVE ASSESSMENT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2177269"/>
            <a:ext cx="10546448" cy="88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8"/>
              </a:lnSpc>
            </a:pPr>
            <a:r>
              <a:rPr lang="en-US" sz="1798" spc="17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Test your ability to detect, analyze, and respond to real-world phishing scenarios. Each challenge reflects live attack patterns observed in enterprise environments. Apply the detection techniques covered in this training.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299546" y="4680148"/>
            <a:ext cx="2959754" cy="666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78"/>
              </a:lnSpc>
              <a:spcBef>
                <a:spcPct val="0"/>
              </a:spcBef>
            </a:pPr>
            <a:r>
              <a:rPr lang="en-US" sz="1913" b="1" spc="19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Scenario-based challenges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299546" y="5948405"/>
            <a:ext cx="2959754" cy="1004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78"/>
              </a:lnSpc>
              <a:spcBef>
                <a:spcPct val="0"/>
              </a:spcBef>
            </a:pPr>
            <a:r>
              <a:rPr lang="en-US" sz="1913" b="1" spc="19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Difficulty tiers: Medium, Hard &amp; Advanced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299546" y="7557143"/>
            <a:ext cx="2959754" cy="666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78"/>
              </a:lnSpc>
              <a:spcBef>
                <a:spcPct val="0"/>
              </a:spcBef>
            </a:pPr>
            <a:r>
              <a:rPr lang="en-US" sz="1913" b="1" spc="19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Target detection accuracy benchmark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78949" y="1758176"/>
            <a:ext cx="5331840" cy="7261467"/>
            <a:chOff x="0" y="0"/>
            <a:chExt cx="1640171" cy="22337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0171" cy="2233760"/>
            </a:xfrm>
            <a:custGeom>
              <a:avLst/>
              <a:gdLst/>
              <a:ahLst/>
              <a:cxnLst/>
              <a:rect l="l" t="t" r="r" b="b"/>
              <a:pathLst>
                <a:path w="1640171" h="2233760">
                  <a:moveTo>
                    <a:pt x="29040" y="0"/>
                  </a:moveTo>
                  <a:lnTo>
                    <a:pt x="1611131" y="0"/>
                  </a:lnTo>
                  <a:cubicBezTo>
                    <a:pt x="1618833" y="0"/>
                    <a:pt x="1626219" y="3060"/>
                    <a:pt x="1631666" y="8506"/>
                  </a:cubicBezTo>
                  <a:cubicBezTo>
                    <a:pt x="1637112" y="13952"/>
                    <a:pt x="1640171" y="21338"/>
                    <a:pt x="1640171" y="29040"/>
                  </a:cubicBezTo>
                  <a:lnTo>
                    <a:pt x="1640171" y="2204719"/>
                  </a:lnTo>
                  <a:cubicBezTo>
                    <a:pt x="1640171" y="2220758"/>
                    <a:pt x="1627169" y="2233760"/>
                    <a:pt x="1611131" y="2233760"/>
                  </a:cubicBezTo>
                  <a:lnTo>
                    <a:pt x="29040" y="2233760"/>
                  </a:lnTo>
                  <a:cubicBezTo>
                    <a:pt x="21338" y="2233760"/>
                    <a:pt x="13952" y="2230700"/>
                    <a:pt x="8506" y="2225254"/>
                  </a:cubicBezTo>
                  <a:cubicBezTo>
                    <a:pt x="3060" y="2219808"/>
                    <a:pt x="0" y="2212421"/>
                    <a:pt x="0" y="2204719"/>
                  </a:cubicBezTo>
                  <a:lnTo>
                    <a:pt x="0" y="29040"/>
                  </a:lnTo>
                  <a:cubicBezTo>
                    <a:pt x="0" y="21338"/>
                    <a:pt x="3060" y="13952"/>
                    <a:pt x="8506" y="8506"/>
                  </a:cubicBezTo>
                  <a:cubicBezTo>
                    <a:pt x="13952" y="3060"/>
                    <a:pt x="21338" y="0"/>
                    <a:pt x="29040" y="0"/>
                  </a:cubicBezTo>
                  <a:close/>
                </a:path>
              </a:pathLst>
            </a:custGeom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40171" cy="2281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99576" y="2503295"/>
            <a:ext cx="5331840" cy="7261467"/>
            <a:chOff x="0" y="0"/>
            <a:chExt cx="1640171" cy="22337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40171" cy="2233760"/>
            </a:xfrm>
            <a:custGeom>
              <a:avLst/>
              <a:gdLst/>
              <a:ahLst/>
              <a:cxnLst/>
              <a:rect l="l" t="t" r="r" b="b"/>
              <a:pathLst>
                <a:path w="1640171" h="2233760">
                  <a:moveTo>
                    <a:pt x="29040" y="0"/>
                  </a:moveTo>
                  <a:lnTo>
                    <a:pt x="1611131" y="0"/>
                  </a:lnTo>
                  <a:cubicBezTo>
                    <a:pt x="1618833" y="0"/>
                    <a:pt x="1626219" y="3060"/>
                    <a:pt x="1631666" y="8506"/>
                  </a:cubicBezTo>
                  <a:cubicBezTo>
                    <a:pt x="1637112" y="13952"/>
                    <a:pt x="1640171" y="21338"/>
                    <a:pt x="1640171" y="29040"/>
                  </a:cubicBezTo>
                  <a:lnTo>
                    <a:pt x="1640171" y="2204719"/>
                  </a:lnTo>
                  <a:cubicBezTo>
                    <a:pt x="1640171" y="2220758"/>
                    <a:pt x="1627169" y="2233760"/>
                    <a:pt x="1611131" y="2233760"/>
                  </a:cubicBezTo>
                  <a:lnTo>
                    <a:pt x="29040" y="2233760"/>
                  </a:lnTo>
                  <a:cubicBezTo>
                    <a:pt x="21338" y="2233760"/>
                    <a:pt x="13952" y="2230700"/>
                    <a:pt x="8506" y="2225254"/>
                  </a:cubicBezTo>
                  <a:cubicBezTo>
                    <a:pt x="3060" y="2219808"/>
                    <a:pt x="0" y="2212421"/>
                    <a:pt x="0" y="2204719"/>
                  </a:cubicBezTo>
                  <a:lnTo>
                    <a:pt x="0" y="29040"/>
                  </a:lnTo>
                  <a:cubicBezTo>
                    <a:pt x="0" y="21338"/>
                    <a:pt x="3060" y="13952"/>
                    <a:pt x="8506" y="8506"/>
                  </a:cubicBezTo>
                  <a:cubicBezTo>
                    <a:pt x="13952" y="3060"/>
                    <a:pt x="21338" y="0"/>
                    <a:pt x="29040" y="0"/>
                  </a:cubicBezTo>
                  <a:close/>
                </a:path>
              </a:pathLst>
            </a:custGeom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640171" cy="2281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6584" y="2503295"/>
            <a:ext cx="5331840" cy="7261467"/>
            <a:chOff x="0" y="0"/>
            <a:chExt cx="1640171" cy="22337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40171" cy="2233760"/>
            </a:xfrm>
            <a:custGeom>
              <a:avLst/>
              <a:gdLst/>
              <a:ahLst/>
              <a:cxnLst/>
              <a:rect l="l" t="t" r="r" b="b"/>
              <a:pathLst>
                <a:path w="1640171" h="2233760">
                  <a:moveTo>
                    <a:pt x="29040" y="0"/>
                  </a:moveTo>
                  <a:lnTo>
                    <a:pt x="1611131" y="0"/>
                  </a:lnTo>
                  <a:cubicBezTo>
                    <a:pt x="1618833" y="0"/>
                    <a:pt x="1626219" y="3060"/>
                    <a:pt x="1631666" y="8506"/>
                  </a:cubicBezTo>
                  <a:cubicBezTo>
                    <a:pt x="1637112" y="13952"/>
                    <a:pt x="1640171" y="21338"/>
                    <a:pt x="1640171" y="29040"/>
                  </a:cubicBezTo>
                  <a:lnTo>
                    <a:pt x="1640171" y="2204719"/>
                  </a:lnTo>
                  <a:cubicBezTo>
                    <a:pt x="1640171" y="2220758"/>
                    <a:pt x="1627169" y="2233760"/>
                    <a:pt x="1611131" y="2233760"/>
                  </a:cubicBezTo>
                  <a:lnTo>
                    <a:pt x="29040" y="2233760"/>
                  </a:lnTo>
                  <a:cubicBezTo>
                    <a:pt x="21338" y="2233760"/>
                    <a:pt x="13952" y="2230700"/>
                    <a:pt x="8506" y="2225254"/>
                  </a:cubicBezTo>
                  <a:cubicBezTo>
                    <a:pt x="3060" y="2219808"/>
                    <a:pt x="0" y="2212421"/>
                    <a:pt x="0" y="2204719"/>
                  </a:cubicBezTo>
                  <a:lnTo>
                    <a:pt x="0" y="29040"/>
                  </a:lnTo>
                  <a:cubicBezTo>
                    <a:pt x="0" y="21338"/>
                    <a:pt x="3060" y="13952"/>
                    <a:pt x="8506" y="8506"/>
                  </a:cubicBezTo>
                  <a:cubicBezTo>
                    <a:pt x="13952" y="3060"/>
                    <a:pt x="21338" y="0"/>
                    <a:pt x="29040" y="0"/>
                  </a:cubicBezTo>
                  <a:close/>
                </a:path>
              </a:pathLst>
            </a:custGeom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640171" cy="2281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6749927" y="4824659"/>
            <a:ext cx="4887270" cy="0"/>
          </a:xfrm>
          <a:prstGeom prst="line">
            <a:avLst/>
          </a:prstGeom>
          <a:ln w="38100" cap="flat">
            <a:gradFill>
              <a:gsLst>
                <a:gs pos="0">
                  <a:srgbClr val="B992C1">
                    <a:alpha val="0"/>
                  </a:srgbClr>
                </a:gs>
                <a:gs pos="50000">
                  <a:srgbClr val="0A2C92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12470554" y="5353084"/>
            <a:ext cx="4887270" cy="0"/>
          </a:xfrm>
          <a:prstGeom prst="line">
            <a:avLst/>
          </a:prstGeom>
          <a:ln w="38100" cap="flat">
            <a:gradFill>
              <a:gsLst>
                <a:gs pos="0">
                  <a:srgbClr val="B992C1">
                    <a:alpha val="0"/>
                  </a:srgbClr>
                </a:gs>
                <a:gs pos="50000">
                  <a:srgbClr val="0A2C92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1027562" y="5569777"/>
            <a:ext cx="4887270" cy="0"/>
          </a:xfrm>
          <a:prstGeom prst="line">
            <a:avLst/>
          </a:prstGeom>
          <a:ln w="38100" cap="flat">
            <a:gradFill>
              <a:gsLst>
                <a:gs pos="0">
                  <a:srgbClr val="B992C1">
                    <a:alpha val="0"/>
                  </a:srgbClr>
                </a:gs>
                <a:gs pos="50000">
                  <a:srgbClr val="0A2C92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6749927" y="6134029"/>
            <a:ext cx="4887270" cy="0"/>
          </a:xfrm>
          <a:prstGeom prst="line">
            <a:avLst/>
          </a:prstGeom>
          <a:ln w="38100" cap="flat">
            <a:gradFill>
              <a:gsLst>
                <a:gs pos="0">
                  <a:srgbClr val="B992C1">
                    <a:alpha val="0"/>
                  </a:srgbClr>
                </a:gs>
                <a:gs pos="50000">
                  <a:srgbClr val="0A2C92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12470554" y="6879147"/>
            <a:ext cx="4887270" cy="0"/>
          </a:xfrm>
          <a:prstGeom prst="line">
            <a:avLst/>
          </a:prstGeom>
          <a:ln w="38100" cap="flat">
            <a:gradFill>
              <a:gsLst>
                <a:gs pos="0">
                  <a:srgbClr val="B992C1">
                    <a:alpha val="0"/>
                  </a:srgbClr>
                </a:gs>
                <a:gs pos="50000">
                  <a:srgbClr val="0A2C92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1027562" y="6879147"/>
            <a:ext cx="4887270" cy="0"/>
          </a:xfrm>
          <a:prstGeom prst="line">
            <a:avLst/>
          </a:prstGeom>
          <a:ln w="38100" cap="flat">
            <a:gradFill>
              <a:gsLst>
                <a:gs pos="0">
                  <a:srgbClr val="B992C1">
                    <a:alpha val="0"/>
                  </a:srgbClr>
                </a:gs>
                <a:gs pos="50000">
                  <a:srgbClr val="0A2C92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12470554" y="-994769"/>
            <a:ext cx="6124504" cy="3498064"/>
          </a:xfrm>
          <a:custGeom>
            <a:avLst/>
            <a:gdLst/>
            <a:ahLst/>
            <a:cxnLst/>
            <a:rect l="l" t="t" r="r" b="b"/>
            <a:pathLst>
              <a:path w="8800160" h="3498064">
                <a:moveTo>
                  <a:pt x="0" y="0"/>
                </a:moveTo>
                <a:lnTo>
                  <a:pt x="8800160" y="0"/>
                </a:lnTo>
                <a:lnTo>
                  <a:pt x="8800160" y="3498064"/>
                </a:lnTo>
                <a:lnTo>
                  <a:pt x="0" y="34980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flipH="1">
            <a:off x="-203007" y="-924584"/>
            <a:ext cx="4671058" cy="3498064"/>
          </a:xfrm>
          <a:custGeom>
            <a:avLst/>
            <a:gdLst/>
            <a:ahLst/>
            <a:cxnLst/>
            <a:rect l="l" t="t" r="r" b="b"/>
            <a:pathLst>
              <a:path w="8800160" h="3498064">
                <a:moveTo>
                  <a:pt x="8800160" y="0"/>
                </a:moveTo>
                <a:lnTo>
                  <a:pt x="0" y="0"/>
                </a:lnTo>
                <a:lnTo>
                  <a:pt x="0" y="3498064"/>
                </a:lnTo>
                <a:lnTo>
                  <a:pt x="8800160" y="3498064"/>
                </a:lnTo>
                <a:lnTo>
                  <a:pt x="880016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2426174" y="396101"/>
            <a:ext cx="13435652" cy="1028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4"/>
              </a:lnSpc>
              <a:spcBef>
                <a:spcPct val="0"/>
              </a:spcBef>
            </a:pPr>
            <a:r>
              <a:rPr lang="en-US" sz="599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INTERACTIVE ASSESSMENT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14640" y="2276357"/>
            <a:ext cx="4660457" cy="423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82"/>
              </a:lnSpc>
            </a:pPr>
            <a:r>
              <a:rPr lang="en-US" sz="2678" b="1" spc="267">
                <a:solidFill>
                  <a:srgbClr val="C0D4FF"/>
                </a:solidFill>
                <a:latin typeface="DM Sans Bold"/>
                <a:ea typeface="DM Sans Bold"/>
                <a:cs typeface="DM Sans Bold"/>
                <a:sym typeface="DM Sans Bold"/>
              </a:rPr>
              <a:t>CHALLENGE QUESTIONS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35267" y="3021476"/>
            <a:ext cx="4660457" cy="423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82"/>
              </a:lnSpc>
            </a:pPr>
            <a:r>
              <a:rPr lang="en-US" sz="2678" b="1" spc="267">
                <a:solidFill>
                  <a:srgbClr val="C0D4FF"/>
                </a:solidFill>
                <a:latin typeface="DM Sans Bold"/>
                <a:ea typeface="DM Sans Bold"/>
                <a:cs typeface="DM Sans Bold"/>
                <a:sym typeface="DM Sans Bold"/>
              </a:rPr>
              <a:t>QUESTION 2 — HARD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2276" y="3021476"/>
            <a:ext cx="4660457" cy="423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82"/>
              </a:lnSpc>
            </a:pPr>
            <a:r>
              <a:rPr lang="en-US" sz="2678" b="1" spc="267">
                <a:solidFill>
                  <a:srgbClr val="C0D4FF"/>
                </a:solidFill>
                <a:latin typeface="DM Sans Bold"/>
                <a:ea typeface="DM Sans Bold"/>
                <a:cs typeface="DM Sans Bold"/>
                <a:sym typeface="DM Sans Bold"/>
              </a:rPr>
              <a:t>QUESTION 1 — MEDIUM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07300" y="3110476"/>
            <a:ext cx="2667797" cy="1250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2"/>
              </a:lnSpc>
            </a:pPr>
            <a:r>
              <a:rPr lang="en-US" sz="1301" spc="13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Email from "IT-Support admin@corp-internal-update.com" claims your password expires today. Link points to https://mfa-auth-portal.com/login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527927" y="3855595"/>
            <a:ext cx="2667797" cy="10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2"/>
              </a:lnSpc>
            </a:pPr>
            <a:r>
              <a:rPr lang="en-US" sz="1301" spc="13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 caller claiming to be IT Helpdesk asks you to provide your 6-digit MFA code to "verify your identity" for a system upgrade.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084935" y="3855595"/>
            <a:ext cx="2667797" cy="1250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2"/>
              </a:lnSpc>
            </a:pPr>
            <a:r>
              <a:rPr lang="en-US" sz="1301" spc="13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Email from "IT-Support admin@corp-internal-update.com" claims your password expires today. Link points to https://mfa-auth-portal.com/login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894282" y="3110476"/>
            <a:ext cx="1817425" cy="21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1"/>
              </a:lnSpc>
            </a:pPr>
            <a:r>
              <a:rPr lang="en-US" sz="1370" b="1" spc="13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Scenario: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614909" y="3855595"/>
            <a:ext cx="1817425" cy="21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1"/>
              </a:lnSpc>
            </a:pPr>
            <a:r>
              <a:rPr lang="en-US" sz="1370" b="1" spc="13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Scenario: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71917" y="3855595"/>
            <a:ext cx="1817425" cy="21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1"/>
              </a:lnSpc>
            </a:pPr>
            <a:r>
              <a:rPr lang="en-US" sz="1370" b="1" spc="13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Scenario: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807300" y="5158034"/>
            <a:ext cx="2667797" cy="41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2"/>
              </a:lnSpc>
            </a:pPr>
            <a:r>
              <a:rPr lang="en-US" sz="1301" spc="13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Phishing indicator in the email and URL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527927" y="5686459"/>
            <a:ext cx="2667797" cy="41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2"/>
              </a:lnSpc>
            </a:pPr>
            <a:r>
              <a:rPr lang="en-US" sz="1301" spc="13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Attack type and proper security protocol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084935" y="5903152"/>
            <a:ext cx="2667797" cy="41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2"/>
              </a:lnSpc>
            </a:pPr>
            <a:r>
              <a:rPr lang="en-US" sz="1301" spc="13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Phishing indicator in the email and URL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807300" y="6334054"/>
            <a:ext cx="2667797" cy="621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2"/>
              </a:lnSpc>
            </a:pPr>
            <a:r>
              <a:rPr lang="en-US" sz="1301" spc="13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Do NOT click the link. Report via internal phishing tool immediately.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527927" y="7079172"/>
            <a:ext cx="2667797" cy="83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2"/>
              </a:lnSpc>
            </a:pPr>
            <a:r>
              <a:rPr lang="en-US" sz="1301" spc="13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Never share MFA codes. Hang up and report to security team via official channel.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084935" y="7079172"/>
            <a:ext cx="2667797" cy="621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2"/>
              </a:lnSpc>
            </a:pPr>
            <a:r>
              <a:rPr lang="en-US" sz="1301" spc="13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Do NOT click the link. Report via internal phishing tool immediately.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94282" y="5158034"/>
            <a:ext cx="1817425" cy="21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1"/>
              </a:lnSpc>
            </a:pPr>
            <a:r>
              <a:rPr lang="en-US" sz="1370" b="1" spc="13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Identify: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614909" y="5686459"/>
            <a:ext cx="1817425" cy="21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1"/>
              </a:lnSpc>
            </a:pPr>
            <a:r>
              <a:rPr lang="en-US" sz="1370" b="1" spc="13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Identify: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71917" y="5903152"/>
            <a:ext cx="1817425" cy="21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1"/>
              </a:lnSpc>
            </a:pPr>
            <a:r>
              <a:rPr lang="en-US" sz="1370" b="1" spc="13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Identify: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94282" y="6334054"/>
            <a:ext cx="1817425" cy="21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1"/>
              </a:lnSpc>
            </a:pPr>
            <a:r>
              <a:rPr lang="en-US" sz="1370" b="1" spc="13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Correct Action: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614909" y="7079172"/>
            <a:ext cx="1817425" cy="21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1"/>
              </a:lnSpc>
            </a:pPr>
            <a:r>
              <a:rPr lang="en-US" sz="1370" b="1" spc="13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Correct Action: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71917" y="7079172"/>
            <a:ext cx="1817425" cy="21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1"/>
              </a:lnSpc>
            </a:pPr>
            <a:r>
              <a:rPr lang="en-US" sz="1370" b="1" spc="13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Correct Action: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894282" y="7643424"/>
            <a:ext cx="4580815" cy="21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81"/>
              </a:lnSpc>
            </a:pPr>
            <a:r>
              <a:rPr lang="en-US" sz="1370" b="1" spc="13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Difficulty: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614909" y="8388542"/>
            <a:ext cx="4580815" cy="21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81"/>
              </a:lnSpc>
            </a:pPr>
            <a:r>
              <a:rPr lang="en-US" sz="1370" b="1" spc="13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Difficulty: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71917" y="8388542"/>
            <a:ext cx="4580815" cy="21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81"/>
              </a:lnSpc>
            </a:pPr>
            <a:r>
              <a:rPr lang="en-US" sz="1370" b="1" spc="13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Difficulty: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6894282" y="8091282"/>
            <a:ext cx="4580815" cy="664609"/>
            <a:chOff x="0" y="0"/>
            <a:chExt cx="1246389" cy="18083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46389" cy="180833"/>
            </a:xfrm>
            <a:custGeom>
              <a:avLst/>
              <a:gdLst/>
              <a:ahLst/>
              <a:cxnLst/>
              <a:rect l="l" t="t" r="r" b="b"/>
              <a:pathLst>
                <a:path w="1246389" h="180833">
                  <a:moveTo>
                    <a:pt x="33801" y="0"/>
                  </a:moveTo>
                  <a:lnTo>
                    <a:pt x="1212587" y="0"/>
                  </a:lnTo>
                  <a:cubicBezTo>
                    <a:pt x="1221552" y="0"/>
                    <a:pt x="1230149" y="3561"/>
                    <a:pt x="1236488" y="9900"/>
                  </a:cubicBezTo>
                  <a:cubicBezTo>
                    <a:pt x="1242827" y="16239"/>
                    <a:pt x="1246389" y="24837"/>
                    <a:pt x="1246389" y="33801"/>
                  </a:cubicBezTo>
                  <a:lnTo>
                    <a:pt x="1246389" y="147031"/>
                  </a:lnTo>
                  <a:cubicBezTo>
                    <a:pt x="1246389" y="155996"/>
                    <a:pt x="1242827" y="164594"/>
                    <a:pt x="1236488" y="170933"/>
                  </a:cubicBezTo>
                  <a:cubicBezTo>
                    <a:pt x="1230149" y="177272"/>
                    <a:pt x="1221552" y="180833"/>
                    <a:pt x="1212587" y="180833"/>
                  </a:cubicBezTo>
                  <a:lnTo>
                    <a:pt x="33801" y="180833"/>
                  </a:lnTo>
                  <a:cubicBezTo>
                    <a:pt x="24837" y="180833"/>
                    <a:pt x="16239" y="177272"/>
                    <a:pt x="9900" y="170933"/>
                  </a:cubicBezTo>
                  <a:cubicBezTo>
                    <a:pt x="3561" y="164594"/>
                    <a:pt x="0" y="155996"/>
                    <a:pt x="0" y="147031"/>
                  </a:cubicBezTo>
                  <a:lnTo>
                    <a:pt x="0" y="33801"/>
                  </a:lnTo>
                  <a:cubicBezTo>
                    <a:pt x="0" y="24837"/>
                    <a:pt x="3561" y="16239"/>
                    <a:pt x="9900" y="9900"/>
                  </a:cubicBezTo>
                  <a:cubicBezTo>
                    <a:pt x="16239" y="3561"/>
                    <a:pt x="24837" y="0"/>
                    <a:pt x="338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100000"/>
                  </a:srgbClr>
                </a:gs>
                <a:gs pos="100000">
                  <a:srgbClr val="0A2C92">
                    <a:alpha val="10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B992C1">
                      <a:alpha val="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1246389" cy="228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84"/>
                </a:lnSpc>
              </a:pPr>
              <a:r>
                <a:rPr lang="en-US" sz="2489" b="1" spc="24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MEDIUM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2614909" y="8836400"/>
            <a:ext cx="4580815" cy="664609"/>
            <a:chOff x="0" y="0"/>
            <a:chExt cx="1246389" cy="180833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246389" cy="180833"/>
            </a:xfrm>
            <a:custGeom>
              <a:avLst/>
              <a:gdLst/>
              <a:ahLst/>
              <a:cxnLst/>
              <a:rect l="l" t="t" r="r" b="b"/>
              <a:pathLst>
                <a:path w="1246389" h="180833">
                  <a:moveTo>
                    <a:pt x="33801" y="0"/>
                  </a:moveTo>
                  <a:lnTo>
                    <a:pt x="1212587" y="0"/>
                  </a:lnTo>
                  <a:cubicBezTo>
                    <a:pt x="1221552" y="0"/>
                    <a:pt x="1230149" y="3561"/>
                    <a:pt x="1236488" y="9900"/>
                  </a:cubicBezTo>
                  <a:cubicBezTo>
                    <a:pt x="1242827" y="16239"/>
                    <a:pt x="1246389" y="24837"/>
                    <a:pt x="1246389" y="33801"/>
                  </a:cubicBezTo>
                  <a:lnTo>
                    <a:pt x="1246389" y="147031"/>
                  </a:lnTo>
                  <a:cubicBezTo>
                    <a:pt x="1246389" y="155996"/>
                    <a:pt x="1242827" y="164594"/>
                    <a:pt x="1236488" y="170933"/>
                  </a:cubicBezTo>
                  <a:cubicBezTo>
                    <a:pt x="1230149" y="177272"/>
                    <a:pt x="1221552" y="180833"/>
                    <a:pt x="1212587" y="180833"/>
                  </a:cubicBezTo>
                  <a:lnTo>
                    <a:pt x="33801" y="180833"/>
                  </a:lnTo>
                  <a:cubicBezTo>
                    <a:pt x="24837" y="180833"/>
                    <a:pt x="16239" y="177272"/>
                    <a:pt x="9900" y="170933"/>
                  </a:cubicBezTo>
                  <a:cubicBezTo>
                    <a:pt x="3561" y="164594"/>
                    <a:pt x="0" y="155996"/>
                    <a:pt x="0" y="147031"/>
                  </a:cubicBezTo>
                  <a:lnTo>
                    <a:pt x="0" y="33801"/>
                  </a:lnTo>
                  <a:cubicBezTo>
                    <a:pt x="0" y="24837"/>
                    <a:pt x="3561" y="16239"/>
                    <a:pt x="9900" y="9900"/>
                  </a:cubicBezTo>
                  <a:cubicBezTo>
                    <a:pt x="16239" y="3561"/>
                    <a:pt x="24837" y="0"/>
                    <a:pt x="338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100000"/>
                  </a:srgbClr>
                </a:gs>
                <a:gs pos="100000">
                  <a:srgbClr val="0A2C92">
                    <a:alpha val="10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B992C1">
                      <a:alpha val="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1246389" cy="228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84"/>
                </a:lnSpc>
              </a:pPr>
              <a:r>
                <a:rPr lang="en-US" sz="2489" b="1" spc="24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HARD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71917" y="8836400"/>
            <a:ext cx="4580815" cy="664609"/>
            <a:chOff x="0" y="0"/>
            <a:chExt cx="1246389" cy="18083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246389" cy="180833"/>
            </a:xfrm>
            <a:custGeom>
              <a:avLst/>
              <a:gdLst/>
              <a:ahLst/>
              <a:cxnLst/>
              <a:rect l="l" t="t" r="r" b="b"/>
              <a:pathLst>
                <a:path w="1246389" h="180833">
                  <a:moveTo>
                    <a:pt x="33801" y="0"/>
                  </a:moveTo>
                  <a:lnTo>
                    <a:pt x="1212587" y="0"/>
                  </a:lnTo>
                  <a:cubicBezTo>
                    <a:pt x="1221552" y="0"/>
                    <a:pt x="1230149" y="3561"/>
                    <a:pt x="1236488" y="9900"/>
                  </a:cubicBezTo>
                  <a:cubicBezTo>
                    <a:pt x="1242827" y="16239"/>
                    <a:pt x="1246389" y="24837"/>
                    <a:pt x="1246389" y="33801"/>
                  </a:cubicBezTo>
                  <a:lnTo>
                    <a:pt x="1246389" y="147031"/>
                  </a:lnTo>
                  <a:cubicBezTo>
                    <a:pt x="1246389" y="155996"/>
                    <a:pt x="1242827" y="164594"/>
                    <a:pt x="1236488" y="170933"/>
                  </a:cubicBezTo>
                  <a:cubicBezTo>
                    <a:pt x="1230149" y="177272"/>
                    <a:pt x="1221552" y="180833"/>
                    <a:pt x="1212587" y="180833"/>
                  </a:cubicBezTo>
                  <a:lnTo>
                    <a:pt x="33801" y="180833"/>
                  </a:lnTo>
                  <a:cubicBezTo>
                    <a:pt x="24837" y="180833"/>
                    <a:pt x="16239" y="177272"/>
                    <a:pt x="9900" y="170933"/>
                  </a:cubicBezTo>
                  <a:cubicBezTo>
                    <a:pt x="3561" y="164594"/>
                    <a:pt x="0" y="155996"/>
                    <a:pt x="0" y="147031"/>
                  </a:cubicBezTo>
                  <a:lnTo>
                    <a:pt x="0" y="33801"/>
                  </a:lnTo>
                  <a:cubicBezTo>
                    <a:pt x="0" y="24837"/>
                    <a:pt x="3561" y="16239"/>
                    <a:pt x="9900" y="9900"/>
                  </a:cubicBezTo>
                  <a:cubicBezTo>
                    <a:pt x="16239" y="3561"/>
                    <a:pt x="24837" y="0"/>
                    <a:pt x="338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100000"/>
                  </a:srgbClr>
                </a:gs>
                <a:gs pos="100000">
                  <a:srgbClr val="0A2C92">
                    <a:alpha val="10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B992C1">
                      <a:alpha val="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1246389" cy="228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84"/>
                </a:lnSpc>
              </a:pPr>
              <a:r>
                <a:rPr lang="en-US" sz="2489" b="1" spc="24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MEDIUM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81050" flipH="1">
            <a:off x="-131311" y="1912562"/>
            <a:ext cx="6586560" cy="6600444"/>
          </a:xfrm>
          <a:custGeom>
            <a:avLst/>
            <a:gdLst/>
            <a:ahLst/>
            <a:cxnLst/>
            <a:rect l="l" t="t" r="r" b="b"/>
            <a:pathLst>
              <a:path w="16230600" h="6600444">
                <a:moveTo>
                  <a:pt x="16230600" y="0"/>
                </a:moveTo>
                <a:lnTo>
                  <a:pt x="0" y="0"/>
                </a:lnTo>
                <a:lnTo>
                  <a:pt x="0" y="6600444"/>
                </a:lnTo>
                <a:lnTo>
                  <a:pt x="16230600" y="6600444"/>
                </a:lnTo>
                <a:lnTo>
                  <a:pt x="162306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4634090" y="995096"/>
            <a:ext cx="0" cy="7088678"/>
          </a:xfrm>
          <a:prstGeom prst="line">
            <a:avLst/>
          </a:prstGeom>
          <a:ln w="38100" cap="flat">
            <a:gradFill>
              <a:gsLst>
                <a:gs pos="0">
                  <a:srgbClr val="B992C1">
                    <a:alpha val="0"/>
                  </a:srgbClr>
                </a:gs>
                <a:gs pos="50000">
                  <a:srgbClr val="0A2C92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5196694" y="7566527"/>
            <a:ext cx="12062606" cy="2071450"/>
            <a:chOff x="0" y="0"/>
            <a:chExt cx="3469535" cy="5958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69535" cy="595806"/>
            </a:xfrm>
            <a:custGeom>
              <a:avLst/>
              <a:gdLst/>
              <a:ahLst/>
              <a:cxnLst/>
              <a:rect l="l" t="t" r="r" b="b"/>
              <a:pathLst>
                <a:path w="3469535" h="595806">
                  <a:moveTo>
                    <a:pt x="12836" y="0"/>
                  </a:moveTo>
                  <a:lnTo>
                    <a:pt x="3456699" y="0"/>
                  </a:lnTo>
                  <a:cubicBezTo>
                    <a:pt x="3463788" y="0"/>
                    <a:pt x="3469535" y="5747"/>
                    <a:pt x="3469535" y="12836"/>
                  </a:cubicBezTo>
                  <a:lnTo>
                    <a:pt x="3469535" y="582970"/>
                  </a:lnTo>
                  <a:cubicBezTo>
                    <a:pt x="3469535" y="586374"/>
                    <a:pt x="3468183" y="589639"/>
                    <a:pt x="3465776" y="592046"/>
                  </a:cubicBezTo>
                  <a:cubicBezTo>
                    <a:pt x="3463368" y="594453"/>
                    <a:pt x="3460103" y="595806"/>
                    <a:pt x="3456699" y="595806"/>
                  </a:cubicBezTo>
                  <a:lnTo>
                    <a:pt x="12836" y="595806"/>
                  </a:lnTo>
                  <a:cubicBezTo>
                    <a:pt x="9432" y="595806"/>
                    <a:pt x="6167" y="594453"/>
                    <a:pt x="3760" y="592046"/>
                  </a:cubicBezTo>
                  <a:cubicBezTo>
                    <a:pt x="1352" y="589639"/>
                    <a:pt x="0" y="586374"/>
                    <a:pt x="0" y="582970"/>
                  </a:cubicBezTo>
                  <a:lnTo>
                    <a:pt x="0" y="12836"/>
                  </a:lnTo>
                  <a:cubicBezTo>
                    <a:pt x="0" y="9432"/>
                    <a:pt x="1352" y="6167"/>
                    <a:pt x="3760" y="3760"/>
                  </a:cubicBezTo>
                  <a:cubicBezTo>
                    <a:pt x="6167" y="1352"/>
                    <a:pt x="9432" y="0"/>
                    <a:pt x="1283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100000"/>
                  </a:srgbClr>
                </a:gs>
                <a:gs pos="100000">
                  <a:srgbClr val="0A2C92">
                    <a:alpha val="10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469535" cy="643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196694" y="649022"/>
            <a:ext cx="12062606" cy="2071450"/>
            <a:chOff x="0" y="0"/>
            <a:chExt cx="3469535" cy="5958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69535" cy="595806"/>
            </a:xfrm>
            <a:custGeom>
              <a:avLst/>
              <a:gdLst/>
              <a:ahLst/>
              <a:cxnLst/>
              <a:rect l="l" t="t" r="r" b="b"/>
              <a:pathLst>
                <a:path w="3469535" h="595806">
                  <a:moveTo>
                    <a:pt x="12836" y="0"/>
                  </a:moveTo>
                  <a:lnTo>
                    <a:pt x="3456699" y="0"/>
                  </a:lnTo>
                  <a:cubicBezTo>
                    <a:pt x="3463788" y="0"/>
                    <a:pt x="3469535" y="5747"/>
                    <a:pt x="3469535" y="12836"/>
                  </a:cubicBezTo>
                  <a:lnTo>
                    <a:pt x="3469535" y="582970"/>
                  </a:lnTo>
                  <a:cubicBezTo>
                    <a:pt x="3469535" y="586374"/>
                    <a:pt x="3468183" y="589639"/>
                    <a:pt x="3465776" y="592046"/>
                  </a:cubicBezTo>
                  <a:cubicBezTo>
                    <a:pt x="3463368" y="594453"/>
                    <a:pt x="3460103" y="595806"/>
                    <a:pt x="3456699" y="595806"/>
                  </a:cubicBezTo>
                  <a:lnTo>
                    <a:pt x="12836" y="595806"/>
                  </a:lnTo>
                  <a:cubicBezTo>
                    <a:pt x="9432" y="595806"/>
                    <a:pt x="6167" y="594453"/>
                    <a:pt x="3760" y="592046"/>
                  </a:cubicBezTo>
                  <a:cubicBezTo>
                    <a:pt x="1352" y="589639"/>
                    <a:pt x="0" y="586374"/>
                    <a:pt x="0" y="582970"/>
                  </a:cubicBezTo>
                  <a:lnTo>
                    <a:pt x="0" y="12836"/>
                  </a:lnTo>
                  <a:cubicBezTo>
                    <a:pt x="0" y="9432"/>
                    <a:pt x="1352" y="6167"/>
                    <a:pt x="3760" y="3760"/>
                  </a:cubicBezTo>
                  <a:cubicBezTo>
                    <a:pt x="6167" y="1352"/>
                    <a:pt x="9432" y="0"/>
                    <a:pt x="1283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50000"/>
                  </a:srgbClr>
                </a:gs>
                <a:gs pos="100000">
                  <a:srgbClr val="0A2C92">
                    <a:alpha val="5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3469535" cy="643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196694" y="2954857"/>
            <a:ext cx="12062606" cy="2071450"/>
            <a:chOff x="0" y="0"/>
            <a:chExt cx="3469535" cy="59580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469535" cy="595806"/>
            </a:xfrm>
            <a:custGeom>
              <a:avLst/>
              <a:gdLst/>
              <a:ahLst/>
              <a:cxnLst/>
              <a:rect l="l" t="t" r="r" b="b"/>
              <a:pathLst>
                <a:path w="3469535" h="595806">
                  <a:moveTo>
                    <a:pt x="12836" y="0"/>
                  </a:moveTo>
                  <a:lnTo>
                    <a:pt x="3456699" y="0"/>
                  </a:lnTo>
                  <a:cubicBezTo>
                    <a:pt x="3463788" y="0"/>
                    <a:pt x="3469535" y="5747"/>
                    <a:pt x="3469535" y="12836"/>
                  </a:cubicBezTo>
                  <a:lnTo>
                    <a:pt x="3469535" y="582970"/>
                  </a:lnTo>
                  <a:cubicBezTo>
                    <a:pt x="3469535" y="586374"/>
                    <a:pt x="3468183" y="589639"/>
                    <a:pt x="3465776" y="592046"/>
                  </a:cubicBezTo>
                  <a:cubicBezTo>
                    <a:pt x="3463368" y="594453"/>
                    <a:pt x="3460103" y="595806"/>
                    <a:pt x="3456699" y="595806"/>
                  </a:cubicBezTo>
                  <a:lnTo>
                    <a:pt x="12836" y="595806"/>
                  </a:lnTo>
                  <a:cubicBezTo>
                    <a:pt x="9432" y="595806"/>
                    <a:pt x="6167" y="594453"/>
                    <a:pt x="3760" y="592046"/>
                  </a:cubicBezTo>
                  <a:cubicBezTo>
                    <a:pt x="1352" y="589639"/>
                    <a:pt x="0" y="586374"/>
                    <a:pt x="0" y="582970"/>
                  </a:cubicBezTo>
                  <a:lnTo>
                    <a:pt x="0" y="12836"/>
                  </a:lnTo>
                  <a:cubicBezTo>
                    <a:pt x="0" y="9432"/>
                    <a:pt x="1352" y="6167"/>
                    <a:pt x="3760" y="3760"/>
                  </a:cubicBezTo>
                  <a:cubicBezTo>
                    <a:pt x="6167" y="1352"/>
                    <a:pt x="9432" y="0"/>
                    <a:pt x="1283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50000"/>
                  </a:srgbClr>
                </a:gs>
                <a:gs pos="100000">
                  <a:srgbClr val="0A2C92">
                    <a:alpha val="5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469535" cy="643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268966" y="777240"/>
            <a:ext cx="692147" cy="692147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2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268966" y="3126030"/>
            <a:ext cx="692147" cy="692147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2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196694" y="5260692"/>
            <a:ext cx="12062606" cy="2071450"/>
            <a:chOff x="0" y="0"/>
            <a:chExt cx="3469535" cy="59580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469535" cy="595806"/>
            </a:xfrm>
            <a:custGeom>
              <a:avLst/>
              <a:gdLst/>
              <a:ahLst/>
              <a:cxnLst/>
              <a:rect l="l" t="t" r="r" b="b"/>
              <a:pathLst>
                <a:path w="3469535" h="595806">
                  <a:moveTo>
                    <a:pt x="12836" y="0"/>
                  </a:moveTo>
                  <a:lnTo>
                    <a:pt x="3456699" y="0"/>
                  </a:lnTo>
                  <a:cubicBezTo>
                    <a:pt x="3463788" y="0"/>
                    <a:pt x="3469535" y="5747"/>
                    <a:pt x="3469535" y="12836"/>
                  </a:cubicBezTo>
                  <a:lnTo>
                    <a:pt x="3469535" y="582970"/>
                  </a:lnTo>
                  <a:cubicBezTo>
                    <a:pt x="3469535" y="586374"/>
                    <a:pt x="3468183" y="589639"/>
                    <a:pt x="3465776" y="592046"/>
                  </a:cubicBezTo>
                  <a:cubicBezTo>
                    <a:pt x="3463368" y="594453"/>
                    <a:pt x="3460103" y="595806"/>
                    <a:pt x="3456699" y="595806"/>
                  </a:cubicBezTo>
                  <a:lnTo>
                    <a:pt x="12836" y="595806"/>
                  </a:lnTo>
                  <a:cubicBezTo>
                    <a:pt x="9432" y="595806"/>
                    <a:pt x="6167" y="594453"/>
                    <a:pt x="3760" y="592046"/>
                  </a:cubicBezTo>
                  <a:cubicBezTo>
                    <a:pt x="1352" y="589639"/>
                    <a:pt x="0" y="586374"/>
                    <a:pt x="0" y="582970"/>
                  </a:cubicBezTo>
                  <a:lnTo>
                    <a:pt x="0" y="12836"/>
                  </a:lnTo>
                  <a:cubicBezTo>
                    <a:pt x="0" y="9432"/>
                    <a:pt x="1352" y="6167"/>
                    <a:pt x="3760" y="3760"/>
                  </a:cubicBezTo>
                  <a:cubicBezTo>
                    <a:pt x="6167" y="1352"/>
                    <a:pt x="9432" y="0"/>
                    <a:pt x="1283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50000"/>
                  </a:srgbClr>
                </a:gs>
                <a:gs pos="100000">
                  <a:srgbClr val="0A2C92">
                    <a:alpha val="5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3469535" cy="643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268966" y="5431865"/>
            <a:ext cx="692147" cy="692147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2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68966" y="7737700"/>
            <a:ext cx="692147" cy="692147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20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566821" y="912194"/>
            <a:ext cx="11256498" cy="47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87"/>
              </a:lnSpc>
            </a:pPr>
            <a:r>
              <a:rPr lang="en-US" sz="2990" b="1" spc="2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Q3 — HARD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566821" y="3218029"/>
            <a:ext cx="11256498" cy="47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87"/>
              </a:lnSpc>
            </a:pPr>
            <a:r>
              <a:rPr lang="en-US" sz="2990" b="1" spc="2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Q4 — ADVANCED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566821" y="1459862"/>
            <a:ext cx="11256498" cy="430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40"/>
              </a:lnSpc>
            </a:pPr>
            <a:r>
              <a:rPr lang="en-US" sz="1339" spc="13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URL: https://login.microsoftonline.com.auth-service-verify.tk/oauth2/authorize — Is this a legitimate Microsoft page? Identify the real domain and explain the subdomain spoofing structure.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566821" y="3765697"/>
            <a:ext cx="11256498" cy="430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40"/>
              </a:lnSpc>
            </a:pPr>
            <a:r>
              <a:rPr lang="en-US" sz="1339" spc="13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 PDF titled "Q3_Financial_Bonus_Details.pdf" shows a blurred image and prompts corporate SSO login. Identify the credential-harvesting technique and explain why it evaded email gateway scanners.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566821" y="5523864"/>
            <a:ext cx="11256498" cy="47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87"/>
              </a:lnSpc>
            </a:pPr>
            <a:r>
              <a:rPr lang="en-US" sz="2990" b="1" spc="2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Q5 — ADVANCED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566821" y="6071533"/>
            <a:ext cx="11256498" cy="430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40"/>
              </a:lnSpc>
            </a:pPr>
            <a:r>
              <a:rPr lang="en-US" sz="1339" spc="13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CEO emails Finance: urgent $15,000 wire transfer, marked confidential. Which social engineering principles are exploited (authority, urgency, secrecy)? What mandatory out-of-band verification must occur before funds are sent?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566821" y="7829699"/>
            <a:ext cx="11256498" cy="47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87"/>
              </a:lnSpc>
            </a:pPr>
            <a:r>
              <a:rPr lang="en-US" sz="2990" b="1" spc="2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KEY PROTOCOL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566821" y="8377368"/>
            <a:ext cx="11256498" cy="430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40"/>
              </a:lnSpc>
            </a:pPr>
            <a:r>
              <a:rPr lang="en-US" sz="1339" spc="13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Pause — Inspect — Verify — Report. Never act on financial or credential requests without out-of-band confirmation via a trusted secondary channel.</a:t>
            </a:r>
          </a:p>
        </p:txBody>
      </p:sp>
      <p:sp>
        <p:nvSpPr>
          <p:cNvPr id="36" name="TextBox 36"/>
          <p:cNvSpPr txBox="1"/>
          <p:nvPr/>
        </p:nvSpPr>
        <p:spPr>
          <a:xfrm rot="-5400000">
            <a:off x="-1389304" y="3983266"/>
            <a:ext cx="8754571" cy="2086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4"/>
              </a:lnSpc>
              <a:spcBef>
                <a:spcPct val="0"/>
              </a:spcBef>
            </a:pPr>
            <a:r>
              <a:rPr lang="en-US" sz="599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ASSESSMENT CHALLENGES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4564" y="4405776"/>
            <a:ext cx="5728277" cy="5065160"/>
            <a:chOff x="0" y="0"/>
            <a:chExt cx="1904638" cy="16841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04638" cy="1684153"/>
            </a:xfrm>
            <a:custGeom>
              <a:avLst/>
              <a:gdLst/>
              <a:ahLst/>
              <a:cxnLst/>
              <a:rect l="l" t="t" r="r" b="b"/>
              <a:pathLst>
                <a:path w="1904638" h="1684153">
                  <a:moveTo>
                    <a:pt x="27031" y="0"/>
                  </a:moveTo>
                  <a:lnTo>
                    <a:pt x="1877607" y="0"/>
                  </a:lnTo>
                  <a:cubicBezTo>
                    <a:pt x="1892536" y="0"/>
                    <a:pt x="1904638" y="12102"/>
                    <a:pt x="1904638" y="27031"/>
                  </a:cubicBezTo>
                  <a:lnTo>
                    <a:pt x="1904638" y="1657123"/>
                  </a:lnTo>
                  <a:cubicBezTo>
                    <a:pt x="1904638" y="1672051"/>
                    <a:pt x="1892536" y="1684153"/>
                    <a:pt x="1877607" y="1684153"/>
                  </a:cubicBezTo>
                  <a:lnTo>
                    <a:pt x="27031" y="1684153"/>
                  </a:lnTo>
                  <a:cubicBezTo>
                    <a:pt x="12102" y="1684153"/>
                    <a:pt x="0" y="1672051"/>
                    <a:pt x="0" y="1657123"/>
                  </a:cubicBezTo>
                  <a:lnTo>
                    <a:pt x="0" y="27031"/>
                  </a:lnTo>
                  <a:cubicBezTo>
                    <a:pt x="0" y="12102"/>
                    <a:pt x="12102" y="0"/>
                    <a:pt x="2703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50000"/>
                  </a:srgbClr>
                </a:gs>
                <a:gs pos="100000">
                  <a:srgbClr val="0A2C92">
                    <a:alpha val="5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904638" cy="17317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395" y="4708451"/>
            <a:ext cx="5757907" cy="4624405"/>
          </a:xfrm>
          <a:prstGeom prst="rect">
            <a:avLst/>
          </a:prstGeom>
        </p:spPr>
      </p:pic>
      <p:sp>
        <p:nvSpPr>
          <p:cNvPr id="6" name="Freeform 6"/>
          <p:cNvSpPr/>
          <p:nvPr/>
        </p:nvSpPr>
        <p:spPr>
          <a:xfrm>
            <a:off x="10835208" y="4384825"/>
            <a:ext cx="7315200" cy="5956732"/>
          </a:xfrm>
          <a:custGeom>
            <a:avLst/>
            <a:gdLst/>
            <a:ahLst/>
            <a:cxnLst/>
            <a:rect l="l" t="t" r="r" b="b"/>
            <a:pathLst>
              <a:path w="12303062" h="5956732">
                <a:moveTo>
                  <a:pt x="0" y="0"/>
                </a:moveTo>
                <a:lnTo>
                  <a:pt x="12303062" y="0"/>
                </a:lnTo>
                <a:lnTo>
                  <a:pt x="12303062" y="5956732"/>
                </a:lnTo>
                <a:lnTo>
                  <a:pt x="0" y="595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991854" y="4827329"/>
            <a:ext cx="2121401" cy="891207"/>
            <a:chOff x="0" y="0"/>
            <a:chExt cx="603182" cy="25339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03182" cy="253399"/>
            </a:xfrm>
            <a:custGeom>
              <a:avLst/>
              <a:gdLst/>
              <a:ahLst/>
              <a:cxnLst/>
              <a:rect l="l" t="t" r="r" b="b"/>
              <a:pathLst>
                <a:path w="603182" h="253399">
                  <a:moveTo>
                    <a:pt x="72989" y="0"/>
                  </a:moveTo>
                  <a:lnTo>
                    <a:pt x="530194" y="0"/>
                  </a:lnTo>
                  <a:cubicBezTo>
                    <a:pt x="549551" y="0"/>
                    <a:pt x="568116" y="7690"/>
                    <a:pt x="581805" y="21378"/>
                  </a:cubicBezTo>
                  <a:cubicBezTo>
                    <a:pt x="595493" y="35066"/>
                    <a:pt x="603182" y="53631"/>
                    <a:pt x="603182" y="72989"/>
                  </a:cubicBezTo>
                  <a:lnTo>
                    <a:pt x="603182" y="180410"/>
                  </a:lnTo>
                  <a:cubicBezTo>
                    <a:pt x="603182" y="199768"/>
                    <a:pt x="595493" y="218333"/>
                    <a:pt x="581805" y="232021"/>
                  </a:cubicBezTo>
                  <a:cubicBezTo>
                    <a:pt x="568116" y="245709"/>
                    <a:pt x="549551" y="253399"/>
                    <a:pt x="530194" y="253399"/>
                  </a:cubicBezTo>
                  <a:lnTo>
                    <a:pt x="72989" y="253399"/>
                  </a:lnTo>
                  <a:cubicBezTo>
                    <a:pt x="53631" y="253399"/>
                    <a:pt x="35066" y="245709"/>
                    <a:pt x="21378" y="232021"/>
                  </a:cubicBezTo>
                  <a:cubicBezTo>
                    <a:pt x="7690" y="218333"/>
                    <a:pt x="0" y="199768"/>
                    <a:pt x="0" y="180410"/>
                  </a:cubicBezTo>
                  <a:lnTo>
                    <a:pt x="0" y="72989"/>
                  </a:lnTo>
                  <a:cubicBezTo>
                    <a:pt x="0" y="53631"/>
                    <a:pt x="7690" y="35066"/>
                    <a:pt x="21378" y="21378"/>
                  </a:cubicBezTo>
                  <a:cubicBezTo>
                    <a:pt x="35066" y="7690"/>
                    <a:pt x="53631" y="0"/>
                    <a:pt x="729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100000"/>
                  </a:srgbClr>
                </a:gs>
                <a:gs pos="100000">
                  <a:srgbClr val="0A2C92">
                    <a:alpha val="10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B992C1">
                      <a:alpha val="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603182" cy="3105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97"/>
                </a:lnSpc>
              </a:pPr>
              <a:r>
                <a:rPr lang="en-US" sz="2997" b="1" spc="2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30%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991854" y="5937611"/>
            <a:ext cx="2121401" cy="891207"/>
            <a:chOff x="0" y="0"/>
            <a:chExt cx="603182" cy="25339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03182" cy="253399"/>
            </a:xfrm>
            <a:custGeom>
              <a:avLst/>
              <a:gdLst/>
              <a:ahLst/>
              <a:cxnLst/>
              <a:rect l="l" t="t" r="r" b="b"/>
              <a:pathLst>
                <a:path w="603182" h="253399">
                  <a:moveTo>
                    <a:pt x="72989" y="0"/>
                  </a:moveTo>
                  <a:lnTo>
                    <a:pt x="530194" y="0"/>
                  </a:lnTo>
                  <a:cubicBezTo>
                    <a:pt x="549551" y="0"/>
                    <a:pt x="568116" y="7690"/>
                    <a:pt x="581805" y="21378"/>
                  </a:cubicBezTo>
                  <a:cubicBezTo>
                    <a:pt x="595493" y="35066"/>
                    <a:pt x="603182" y="53631"/>
                    <a:pt x="603182" y="72989"/>
                  </a:cubicBezTo>
                  <a:lnTo>
                    <a:pt x="603182" y="180410"/>
                  </a:lnTo>
                  <a:cubicBezTo>
                    <a:pt x="603182" y="199768"/>
                    <a:pt x="595493" y="218333"/>
                    <a:pt x="581805" y="232021"/>
                  </a:cubicBezTo>
                  <a:cubicBezTo>
                    <a:pt x="568116" y="245709"/>
                    <a:pt x="549551" y="253399"/>
                    <a:pt x="530194" y="253399"/>
                  </a:cubicBezTo>
                  <a:lnTo>
                    <a:pt x="72989" y="253399"/>
                  </a:lnTo>
                  <a:cubicBezTo>
                    <a:pt x="53631" y="253399"/>
                    <a:pt x="35066" y="245709"/>
                    <a:pt x="21378" y="232021"/>
                  </a:cubicBezTo>
                  <a:cubicBezTo>
                    <a:pt x="7690" y="218333"/>
                    <a:pt x="0" y="199768"/>
                    <a:pt x="0" y="180410"/>
                  </a:cubicBezTo>
                  <a:lnTo>
                    <a:pt x="0" y="72989"/>
                  </a:lnTo>
                  <a:cubicBezTo>
                    <a:pt x="0" y="53631"/>
                    <a:pt x="7690" y="35066"/>
                    <a:pt x="21378" y="21378"/>
                  </a:cubicBezTo>
                  <a:cubicBezTo>
                    <a:pt x="35066" y="7690"/>
                    <a:pt x="53631" y="0"/>
                    <a:pt x="729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100000"/>
                  </a:srgbClr>
                </a:gs>
                <a:gs pos="100000">
                  <a:srgbClr val="0A2C92">
                    <a:alpha val="10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B992C1">
                      <a:alpha val="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603182" cy="3105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97"/>
                </a:lnSpc>
              </a:pPr>
              <a:r>
                <a:rPr lang="en-US" sz="2997" b="1" spc="2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30%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991854" y="7047893"/>
            <a:ext cx="2121401" cy="891207"/>
            <a:chOff x="0" y="0"/>
            <a:chExt cx="603182" cy="25339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03182" cy="253399"/>
            </a:xfrm>
            <a:custGeom>
              <a:avLst/>
              <a:gdLst/>
              <a:ahLst/>
              <a:cxnLst/>
              <a:rect l="l" t="t" r="r" b="b"/>
              <a:pathLst>
                <a:path w="603182" h="253399">
                  <a:moveTo>
                    <a:pt x="72989" y="0"/>
                  </a:moveTo>
                  <a:lnTo>
                    <a:pt x="530194" y="0"/>
                  </a:lnTo>
                  <a:cubicBezTo>
                    <a:pt x="549551" y="0"/>
                    <a:pt x="568116" y="7690"/>
                    <a:pt x="581805" y="21378"/>
                  </a:cubicBezTo>
                  <a:cubicBezTo>
                    <a:pt x="595493" y="35066"/>
                    <a:pt x="603182" y="53631"/>
                    <a:pt x="603182" y="72989"/>
                  </a:cubicBezTo>
                  <a:lnTo>
                    <a:pt x="603182" y="180410"/>
                  </a:lnTo>
                  <a:cubicBezTo>
                    <a:pt x="603182" y="199768"/>
                    <a:pt x="595493" y="218333"/>
                    <a:pt x="581805" y="232021"/>
                  </a:cubicBezTo>
                  <a:cubicBezTo>
                    <a:pt x="568116" y="245709"/>
                    <a:pt x="549551" y="253399"/>
                    <a:pt x="530194" y="253399"/>
                  </a:cubicBezTo>
                  <a:lnTo>
                    <a:pt x="72989" y="253399"/>
                  </a:lnTo>
                  <a:cubicBezTo>
                    <a:pt x="53631" y="253399"/>
                    <a:pt x="35066" y="245709"/>
                    <a:pt x="21378" y="232021"/>
                  </a:cubicBezTo>
                  <a:cubicBezTo>
                    <a:pt x="7690" y="218333"/>
                    <a:pt x="0" y="199768"/>
                    <a:pt x="0" y="180410"/>
                  </a:cubicBezTo>
                  <a:lnTo>
                    <a:pt x="0" y="72989"/>
                  </a:lnTo>
                  <a:cubicBezTo>
                    <a:pt x="0" y="53631"/>
                    <a:pt x="7690" y="35066"/>
                    <a:pt x="21378" y="21378"/>
                  </a:cubicBezTo>
                  <a:cubicBezTo>
                    <a:pt x="35066" y="7690"/>
                    <a:pt x="53631" y="0"/>
                    <a:pt x="729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100000"/>
                  </a:srgbClr>
                </a:gs>
                <a:gs pos="100000">
                  <a:srgbClr val="0A2C92">
                    <a:alpha val="10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B992C1">
                      <a:alpha val="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603182" cy="3105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97"/>
                </a:lnSpc>
              </a:pPr>
              <a:r>
                <a:rPr lang="en-US" sz="2997" b="1" spc="2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20%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991854" y="8158176"/>
            <a:ext cx="2121401" cy="891207"/>
            <a:chOff x="0" y="0"/>
            <a:chExt cx="603182" cy="25339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03182" cy="253399"/>
            </a:xfrm>
            <a:custGeom>
              <a:avLst/>
              <a:gdLst/>
              <a:ahLst/>
              <a:cxnLst/>
              <a:rect l="l" t="t" r="r" b="b"/>
              <a:pathLst>
                <a:path w="603182" h="253399">
                  <a:moveTo>
                    <a:pt x="72989" y="0"/>
                  </a:moveTo>
                  <a:lnTo>
                    <a:pt x="530194" y="0"/>
                  </a:lnTo>
                  <a:cubicBezTo>
                    <a:pt x="549551" y="0"/>
                    <a:pt x="568116" y="7690"/>
                    <a:pt x="581805" y="21378"/>
                  </a:cubicBezTo>
                  <a:cubicBezTo>
                    <a:pt x="595493" y="35066"/>
                    <a:pt x="603182" y="53631"/>
                    <a:pt x="603182" y="72989"/>
                  </a:cubicBezTo>
                  <a:lnTo>
                    <a:pt x="603182" y="180410"/>
                  </a:lnTo>
                  <a:cubicBezTo>
                    <a:pt x="603182" y="199768"/>
                    <a:pt x="595493" y="218333"/>
                    <a:pt x="581805" y="232021"/>
                  </a:cubicBezTo>
                  <a:cubicBezTo>
                    <a:pt x="568116" y="245709"/>
                    <a:pt x="549551" y="253399"/>
                    <a:pt x="530194" y="253399"/>
                  </a:cubicBezTo>
                  <a:lnTo>
                    <a:pt x="72989" y="253399"/>
                  </a:lnTo>
                  <a:cubicBezTo>
                    <a:pt x="53631" y="253399"/>
                    <a:pt x="35066" y="245709"/>
                    <a:pt x="21378" y="232021"/>
                  </a:cubicBezTo>
                  <a:cubicBezTo>
                    <a:pt x="7690" y="218333"/>
                    <a:pt x="0" y="199768"/>
                    <a:pt x="0" y="180410"/>
                  </a:cubicBezTo>
                  <a:lnTo>
                    <a:pt x="0" y="72989"/>
                  </a:lnTo>
                  <a:cubicBezTo>
                    <a:pt x="0" y="53631"/>
                    <a:pt x="7690" y="35066"/>
                    <a:pt x="21378" y="21378"/>
                  </a:cubicBezTo>
                  <a:cubicBezTo>
                    <a:pt x="35066" y="7690"/>
                    <a:pt x="53631" y="0"/>
                    <a:pt x="729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100000"/>
                  </a:srgbClr>
                </a:gs>
                <a:gs pos="100000">
                  <a:srgbClr val="0A2C92">
                    <a:alpha val="10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B992C1">
                      <a:alpha val="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603182" cy="3105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97"/>
                </a:lnSpc>
              </a:pPr>
              <a:r>
                <a:rPr lang="en-US" sz="2997" b="1" spc="2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20%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443958" y="5029727"/>
            <a:ext cx="6815342" cy="40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b="1" spc="23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DOMAIN &amp; HEADER ANALYSIS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43958" y="6140010"/>
            <a:ext cx="6815342" cy="40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b="1" spc="23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SOCIAL ENGINEERING RECOGNITION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54564" y="1087852"/>
            <a:ext cx="15704736" cy="1028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4"/>
              </a:lnSpc>
              <a:spcBef>
                <a:spcPct val="0"/>
              </a:spcBef>
            </a:pPr>
            <a:r>
              <a:rPr lang="en-US" sz="599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SKILLS ASSESSED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54564" y="2326151"/>
            <a:ext cx="15704736" cy="1612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8"/>
              </a:lnSpc>
            </a:pPr>
            <a:r>
              <a:rPr lang="en-US" sz="1998" spc="1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Across all five challenge scenarios, four core competencies are evaluated to measure your phishing defense readiness. Domain &amp; header analysis tests your ability to deconstruct suspicious URLs and sender fields. Social engineering recognition examines awareness of psychological manipulation tactics. Attachment &amp; gateway analysis covers evasion techniques used in malicious files. Financial verification validates out-of-band authentication protocols for high-risk requests.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43958" y="7250292"/>
            <a:ext cx="6815342" cy="40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b="1" spc="23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ATTACHMENT &amp; GATEWAY ANALYSIS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43958" y="8360575"/>
            <a:ext cx="6815342" cy="40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b="1" spc="23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FINANCIAL REQUEST VERIFICATION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0693" y="3529618"/>
            <a:ext cx="7516424" cy="2277276"/>
            <a:chOff x="0" y="0"/>
            <a:chExt cx="1979634" cy="5997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79634" cy="599776"/>
            </a:xfrm>
            <a:custGeom>
              <a:avLst/>
              <a:gdLst/>
              <a:ahLst/>
              <a:cxnLst/>
              <a:rect l="l" t="t" r="r" b="b"/>
              <a:pathLst>
                <a:path w="1979634" h="599776">
                  <a:moveTo>
                    <a:pt x="20600" y="0"/>
                  </a:moveTo>
                  <a:lnTo>
                    <a:pt x="1959034" y="0"/>
                  </a:lnTo>
                  <a:cubicBezTo>
                    <a:pt x="1970412" y="0"/>
                    <a:pt x="1979634" y="9223"/>
                    <a:pt x="1979634" y="20600"/>
                  </a:cubicBezTo>
                  <a:lnTo>
                    <a:pt x="1979634" y="579176"/>
                  </a:lnTo>
                  <a:cubicBezTo>
                    <a:pt x="1979634" y="590553"/>
                    <a:pt x="1970412" y="599776"/>
                    <a:pt x="1959034" y="599776"/>
                  </a:cubicBezTo>
                  <a:lnTo>
                    <a:pt x="20600" y="599776"/>
                  </a:lnTo>
                  <a:cubicBezTo>
                    <a:pt x="9223" y="599776"/>
                    <a:pt x="0" y="590553"/>
                    <a:pt x="0" y="579176"/>
                  </a:cubicBezTo>
                  <a:lnTo>
                    <a:pt x="0" y="20600"/>
                  </a:lnTo>
                  <a:cubicBezTo>
                    <a:pt x="0" y="9223"/>
                    <a:pt x="9223" y="0"/>
                    <a:pt x="206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50000"/>
                  </a:srgbClr>
                </a:gs>
                <a:gs pos="100000">
                  <a:srgbClr val="0A2C92">
                    <a:alpha val="5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979634" cy="6474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17653" y="3529618"/>
            <a:ext cx="7516424" cy="2277276"/>
            <a:chOff x="0" y="0"/>
            <a:chExt cx="1979634" cy="5997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79634" cy="599776"/>
            </a:xfrm>
            <a:custGeom>
              <a:avLst/>
              <a:gdLst/>
              <a:ahLst/>
              <a:cxnLst/>
              <a:rect l="l" t="t" r="r" b="b"/>
              <a:pathLst>
                <a:path w="1979634" h="599776">
                  <a:moveTo>
                    <a:pt x="20600" y="0"/>
                  </a:moveTo>
                  <a:lnTo>
                    <a:pt x="1959034" y="0"/>
                  </a:lnTo>
                  <a:cubicBezTo>
                    <a:pt x="1970412" y="0"/>
                    <a:pt x="1979634" y="9223"/>
                    <a:pt x="1979634" y="20600"/>
                  </a:cubicBezTo>
                  <a:lnTo>
                    <a:pt x="1979634" y="579176"/>
                  </a:lnTo>
                  <a:cubicBezTo>
                    <a:pt x="1979634" y="590553"/>
                    <a:pt x="1970412" y="599776"/>
                    <a:pt x="1959034" y="599776"/>
                  </a:cubicBezTo>
                  <a:lnTo>
                    <a:pt x="20600" y="599776"/>
                  </a:lnTo>
                  <a:cubicBezTo>
                    <a:pt x="9223" y="599776"/>
                    <a:pt x="0" y="590553"/>
                    <a:pt x="0" y="579176"/>
                  </a:cubicBezTo>
                  <a:lnTo>
                    <a:pt x="0" y="20600"/>
                  </a:lnTo>
                  <a:cubicBezTo>
                    <a:pt x="0" y="9223"/>
                    <a:pt x="9223" y="0"/>
                    <a:pt x="206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50000"/>
                  </a:srgbClr>
                </a:gs>
                <a:gs pos="100000">
                  <a:srgbClr val="0A2C92">
                    <a:alpha val="5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979634" cy="6474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60693" y="6116836"/>
            <a:ext cx="7516424" cy="2277276"/>
            <a:chOff x="0" y="0"/>
            <a:chExt cx="1979634" cy="59977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79634" cy="599776"/>
            </a:xfrm>
            <a:custGeom>
              <a:avLst/>
              <a:gdLst/>
              <a:ahLst/>
              <a:cxnLst/>
              <a:rect l="l" t="t" r="r" b="b"/>
              <a:pathLst>
                <a:path w="1979634" h="599776">
                  <a:moveTo>
                    <a:pt x="20600" y="0"/>
                  </a:moveTo>
                  <a:lnTo>
                    <a:pt x="1959034" y="0"/>
                  </a:lnTo>
                  <a:cubicBezTo>
                    <a:pt x="1970412" y="0"/>
                    <a:pt x="1979634" y="9223"/>
                    <a:pt x="1979634" y="20600"/>
                  </a:cubicBezTo>
                  <a:lnTo>
                    <a:pt x="1979634" y="579176"/>
                  </a:lnTo>
                  <a:cubicBezTo>
                    <a:pt x="1979634" y="590553"/>
                    <a:pt x="1970412" y="599776"/>
                    <a:pt x="1959034" y="599776"/>
                  </a:cubicBezTo>
                  <a:lnTo>
                    <a:pt x="20600" y="599776"/>
                  </a:lnTo>
                  <a:cubicBezTo>
                    <a:pt x="9223" y="599776"/>
                    <a:pt x="0" y="590553"/>
                    <a:pt x="0" y="579176"/>
                  </a:cubicBezTo>
                  <a:lnTo>
                    <a:pt x="0" y="20600"/>
                  </a:lnTo>
                  <a:cubicBezTo>
                    <a:pt x="0" y="9223"/>
                    <a:pt x="9223" y="0"/>
                    <a:pt x="206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50000"/>
                  </a:srgbClr>
                </a:gs>
                <a:gs pos="100000">
                  <a:srgbClr val="0A2C92">
                    <a:alpha val="5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979634" cy="6474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17653" y="6116836"/>
            <a:ext cx="7516424" cy="2277276"/>
            <a:chOff x="0" y="0"/>
            <a:chExt cx="1979634" cy="5997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79634" cy="599776"/>
            </a:xfrm>
            <a:custGeom>
              <a:avLst/>
              <a:gdLst/>
              <a:ahLst/>
              <a:cxnLst/>
              <a:rect l="l" t="t" r="r" b="b"/>
              <a:pathLst>
                <a:path w="1979634" h="599776">
                  <a:moveTo>
                    <a:pt x="20600" y="0"/>
                  </a:moveTo>
                  <a:lnTo>
                    <a:pt x="1959034" y="0"/>
                  </a:lnTo>
                  <a:cubicBezTo>
                    <a:pt x="1970412" y="0"/>
                    <a:pt x="1979634" y="9223"/>
                    <a:pt x="1979634" y="20600"/>
                  </a:cubicBezTo>
                  <a:lnTo>
                    <a:pt x="1979634" y="579176"/>
                  </a:lnTo>
                  <a:cubicBezTo>
                    <a:pt x="1979634" y="590553"/>
                    <a:pt x="1970412" y="599776"/>
                    <a:pt x="1959034" y="599776"/>
                  </a:cubicBezTo>
                  <a:lnTo>
                    <a:pt x="20600" y="599776"/>
                  </a:lnTo>
                  <a:cubicBezTo>
                    <a:pt x="9223" y="599776"/>
                    <a:pt x="0" y="590553"/>
                    <a:pt x="0" y="579176"/>
                  </a:cubicBezTo>
                  <a:lnTo>
                    <a:pt x="0" y="20600"/>
                  </a:lnTo>
                  <a:cubicBezTo>
                    <a:pt x="0" y="9223"/>
                    <a:pt x="9223" y="0"/>
                    <a:pt x="206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50000"/>
                  </a:srgbClr>
                </a:gs>
                <a:gs pos="100000">
                  <a:srgbClr val="0A2C92">
                    <a:alpha val="50000"/>
                  </a:srgbClr>
                </a:gs>
              </a:gsLst>
              <a:lin ang="0"/>
            </a:gradFill>
            <a:ln w="47625" cap="sq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979634" cy="6474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70962" y="3741708"/>
            <a:ext cx="1881980" cy="1853096"/>
            <a:chOff x="0" y="0"/>
            <a:chExt cx="769231" cy="7574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69231" cy="757425"/>
            </a:xfrm>
            <a:custGeom>
              <a:avLst/>
              <a:gdLst/>
              <a:ahLst/>
              <a:cxnLst/>
              <a:rect l="l" t="t" r="r" b="b"/>
              <a:pathLst>
                <a:path w="769231" h="757425">
                  <a:moveTo>
                    <a:pt x="41137" y="0"/>
                  </a:moveTo>
                  <a:lnTo>
                    <a:pt x="728094" y="0"/>
                  </a:lnTo>
                  <a:cubicBezTo>
                    <a:pt x="750814" y="0"/>
                    <a:pt x="769231" y="18418"/>
                    <a:pt x="769231" y="41137"/>
                  </a:cubicBezTo>
                  <a:lnTo>
                    <a:pt x="769231" y="716288"/>
                  </a:lnTo>
                  <a:cubicBezTo>
                    <a:pt x="769231" y="727198"/>
                    <a:pt x="764897" y="737662"/>
                    <a:pt x="757182" y="745376"/>
                  </a:cubicBezTo>
                  <a:cubicBezTo>
                    <a:pt x="749468" y="753091"/>
                    <a:pt x="739004" y="757425"/>
                    <a:pt x="728094" y="757425"/>
                  </a:cubicBezTo>
                  <a:lnTo>
                    <a:pt x="41137" y="757425"/>
                  </a:lnTo>
                  <a:cubicBezTo>
                    <a:pt x="30227" y="757425"/>
                    <a:pt x="19763" y="753091"/>
                    <a:pt x="12049" y="745376"/>
                  </a:cubicBezTo>
                  <a:cubicBezTo>
                    <a:pt x="4334" y="737662"/>
                    <a:pt x="0" y="727198"/>
                    <a:pt x="0" y="716288"/>
                  </a:cubicBezTo>
                  <a:lnTo>
                    <a:pt x="0" y="41137"/>
                  </a:lnTo>
                  <a:cubicBezTo>
                    <a:pt x="0" y="30227"/>
                    <a:pt x="4334" y="19763"/>
                    <a:pt x="12049" y="12049"/>
                  </a:cubicBezTo>
                  <a:cubicBezTo>
                    <a:pt x="19763" y="4334"/>
                    <a:pt x="30227" y="0"/>
                    <a:pt x="41137" y="0"/>
                  </a:cubicBezTo>
                  <a:close/>
                </a:path>
              </a:pathLst>
            </a:custGeom>
            <a:blipFill>
              <a:blip r:embed="rId2"/>
              <a:stretch>
                <a:fillRect l="-45" r="-45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9527923" y="3741708"/>
            <a:ext cx="1881980" cy="1853096"/>
            <a:chOff x="0" y="0"/>
            <a:chExt cx="769231" cy="75742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69231" cy="757425"/>
            </a:xfrm>
            <a:custGeom>
              <a:avLst/>
              <a:gdLst/>
              <a:ahLst/>
              <a:cxnLst/>
              <a:rect l="l" t="t" r="r" b="b"/>
              <a:pathLst>
                <a:path w="769231" h="757425">
                  <a:moveTo>
                    <a:pt x="41137" y="0"/>
                  </a:moveTo>
                  <a:lnTo>
                    <a:pt x="728094" y="0"/>
                  </a:lnTo>
                  <a:cubicBezTo>
                    <a:pt x="750814" y="0"/>
                    <a:pt x="769231" y="18418"/>
                    <a:pt x="769231" y="41137"/>
                  </a:cubicBezTo>
                  <a:lnTo>
                    <a:pt x="769231" y="716288"/>
                  </a:lnTo>
                  <a:cubicBezTo>
                    <a:pt x="769231" y="727198"/>
                    <a:pt x="764897" y="737662"/>
                    <a:pt x="757182" y="745376"/>
                  </a:cubicBezTo>
                  <a:cubicBezTo>
                    <a:pt x="749468" y="753091"/>
                    <a:pt x="739004" y="757425"/>
                    <a:pt x="728094" y="757425"/>
                  </a:cubicBezTo>
                  <a:lnTo>
                    <a:pt x="41137" y="757425"/>
                  </a:lnTo>
                  <a:cubicBezTo>
                    <a:pt x="30227" y="757425"/>
                    <a:pt x="19763" y="753091"/>
                    <a:pt x="12049" y="745376"/>
                  </a:cubicBezTo>
                  <a:cubicBezTo>
                    <a:pt x="4334" y="737662"/>
                    <a:pt x="0" y="727198"/>
                    <a:pt x="0" y="716288"/>
                  </a:cubicBezTo>
                  <a:lnTo>
                    <a:pt x="0" y="41137"/>
                  </a:lnTo>
                  <a:cubicBezTo>
                    <a:pt x="0" y="30227"/>
                    <a:pt x="4334" y="19763"/>
                    <a:pt x="12049" y="12049"/>
                  </a:cubicBezTo>
                  <a:cubicBezTo>
                    <a:pt x="19763" y="4334"/>
                    <a:pt x="30227" y="0"/>
                    <a:pt x="41137" y="0"/>
                  </a:cubicBezTo>
                  <a:close/>
                </a:path>
              </a:pathLst>
            </a:custGeom>
            <a:blipFill>
              <a:blip r:embed="rId3"/>
              <a:stretch>
                <a:fillRect l="-45" r="-45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770962" y="6328926"/>
            <a:ext cx="1881980" cy="1853096"/>
            <a:chOff x="0" y="0"/>
            <a:chExt cx="769231" cy="7574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69231" cy="757425"/>
            </a:xfrm>
            <a:custGeom>
              <a:avLst/>
              <a:gdLst/>
              <a:ahLst/>
              <a:cxnLst/>
              <a:rect l="l" t="t" r="r" b="b"/>
              <a:pathLst>
                <a:path w="769231" h="757425">
                  <a:moveTo>
                    <a:pt x="41137" y="0"/>
                  </a:moveTo>
                  <a:lnTo>
                    <a:pt x="728094" y="0"/>
                  </a:lnTo>
                  <a:cubicBezTo>
                    <a:pt x="750814" y="0"/>
                    <a:pt x="769231" y="18418"/>
                    <a:pt x="769231" y="41137"/>
                  </a:cubicBezTo>
                  <a:lnTo>
                    <a:pt x="769231" y="716288"/>
                  </a:lnTo>
                  <a:cubicBezTo>
                    <a:pt x="769231" y="727198"/>
                    <a:pt x="764897" y="737662"/>
                    <a:pt x="757182" y="745376"/>
                  </a:cubicBezTo>
                  <a:cubicBezTo>
                    <a:pt x="749468" y="753091"/>
                    <a:pt x="739004" y="757425"/>
                    <a:pt x="728094" y="757425"/>
                  </a:cubicBezTo>
                  <a:lnTo>
                    <a:pt x="41137" y="757425"/>
                  </a:lnTo>
                  <a:cubicBezTo>
                    <a:pt x="30227" y="757425"/>
                    <a:pt x="19763" y="753091"/>
                    <a:pt x="12049" y="745376"/>
                  </a:cubicBezTo>
                  <a:cubicBezTo>
                    <a:pt x="4334" y="737662"/>
                    <a:pt x="0" y="727198"/>
                    <a:pt x="0" y="716288"/>
                  </a:cubicBezTo>
                  <a:lnTo>
                    <a:pt x="0" y="41137"/>
                  </a:lnTo>
                  <a:cubicBezTo>
                    <a:pt x="0" y="30227"/>
                    <a:pt x="4334" y="19763"/>
                    <a:pt x="12049" y="12049"/>
                  </a:cubicBezTo>
                  <a:cubicBezTo>
                    <a:pt x="19763" y="4334"/>
                    <a:pt x="30227" y="0"/>
                    <a:pt x="41137" y="0"/>
                  </a:cubicBezTo>
                  <a:close/>
                </a:path>
              </a:pathLst>
            </a:custGeom>
            <a:blipFill>
              <a:blip r:embed="rId4"/>
              <a:stretch>
                <a:fillRect t="-779" b="-779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9527923" y="6328926"/>
            <a:ext cx="1881980" cy="1853096"/>
            <a:chOff x="0" y="0"/>
            <a:chExt cx="769231" cy="75742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69231" cy="757425"/>
            </a:xfrm>
            <a:custGeom>
              <a:avLst/>
              <a:gdLst/>
              <a:ahLst/>
              <a:cxnLst/>
              <a:rect l="l" t="t" r="r" b="b"/>
              <a:pathLst>
                <a:path w="769231" h="757425">
                  <a:moveTo>
                    <a:pt x="41137" y="0"/>
                  </a:moveTo>
                  <a:lnTo>
                    <a:pt x="728094" y="0"/>
                  </a:lnTo>
                  <a:cubicBezTo>
                    <a:pt x="750814" y="0"/>
                    <a:pt x="769231" y="18418"/>
                    <a:pt x="769231" y="41137"/>
                  </a:cubicBezTo>
                  <a:lnTo>
                    <a:pt x="769231" y="716288"/>
                  </a:lnTo>
                  <a:cubicBezTo>
                    <a:pt x="769231" y="727198"/>
                    <a:pt x="764897" y="737662"/>
                    <a:pt x="757182" y="745376"/>
                  </a:cubicBezTo>
                  <a:cubicBezTo>
                    <a:pt x="749468" y="753091"/>
                    <a:pt x="739004" y="757425"/>
                    <a:pt x="728094" y="757425"/>
                  </a:cubicBezTo>
                  <a:lnTo>
                    <a:pt x="41137" y="757425"/>
                  </a:lnTo>
                  <a:cubicBezTo>
                    <a:pt x="30227" y="757425"/>
                    <a:pt x="19763" y="753091"/>
                    <a:pt x="12049" y="745376"/>
                  </a:cubicBezTo>
                  <a:cubicBezTo>
                    <a:pt x="4334" y="737662"/>
                    <a:pt x="0" y="727198"/>
                    <a:pt x="0" y="716288"/>
                  </a:cubicBezTo>
                  <a:lnTo>
                    <a:pt x="0" y="41137"/>
                  </a:lnTo>
                  <a:cubicBezTo>
                    <a:pt x="0" y="30227"/>
                    <a:pt x="4334" y="19763"/>
                    <a:pt x="12049" y="12049"/>
                  </a:cubicBezTo>
                  <a:cubicBezTo>
                    <a:pt x="19763" y="4334"/>
                    <a:pt x="30227" y="0"/>
                    <a:pt x="41137" y="0"/>
                  </a:cubicBezTo>
                  <a:close/>
                </a:path>
              </a:pathLst>
            </a:custGeom>
            <a:blipFill>
              <a:blip r:embed="rId5"/>
              <a:stretch>
                <a:fillRect l="-45" r="-45"/>
              </a:stretch>
            </a:blipFill>
          </p:spPr>
        </p:sp>
      </p:grpSp>
      <p:sp>
        <p:nvSpPr>
          <p:cNvPr id="22" name="Freeform 22"/>
          <p:cNvSpPr/>
          <p:nvPr/>
        </p:nvSpPr>
        <p:spPr>
          <a:xfrm>
            <a:off x="1986176" y="9065545"/>
            <a:ext cx="385509" cy="385509"/>
          </a:xfrm>
          <a:custGeom>
            <a:avLst/>
            <a:gdLst/>
            <a:ahLst/>
            <a:cxnLst/>
            <a:rect l="l" t="t" r="r" b="b"/>
            <a:pathLst>
              <a:path w="385509" h="385509">
                <a:moveTo>
                  <a:pt x="0" y="0"/>
                </a:moveTo>
                <a:lnTo>
                  <a:pt x="385509" y="0"/>
                </a:lnTo>
                <a:lnTo>
                  <a:pt x="385509" y="385510"/>
                </a:lnTo>
                <a:lnTo>
                  <a:pt x="0" y="3855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7501789" y="9070952"/>
            <a:ext cx="374696" cy="374696"/>
          </a:xfrm>
          <a:custGeom>
            <a:avLst/>
            <a:gdLst/>
            <a:ahLst/>
            <a:cxnLst/>
            <a:rect l="l" t="t" r="r" b="b"/>
            <a:pathLst>
              <a:path w="374696" h="374696">
                <a:moveTo>
                  <a:pt x="0" y="0"/>
                </a:moveTo>
                <a:lnTo>
                  <a:pt x="374696" y="0"/>
                </a:lnTo>
                <a:lnTo>
                  <a:pt x="374696" y="374696"/>
                </a:lnTo>
                <a:lnTo>
                  <a:pt x="0" y="3746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3130620" y="9089220"/>
            <a:ext cx="338160" cy="338160"/>
          </a:xfrm>
          <a:custGeom>
            <a:avLst/>
            <a:gdLst/>
            <a:ahLst/>
            <a:cxnLst/>
            <a:rect l="l" t="t" r="r" b="b"/>
            <a:pathLst>
              <a:path w="338160" h="338160">
                <a:moveTo>
                  <a:pt x="0" y="0"/>
                </a:moveTo>
                <a:lnTo>
                  <a:pt x="338161" y="0"/>
                </a:lnTo>
                <a:lnTo>
                  <a:pt x="338161" y="338160"/>
                </a:lnTo>
                <a:lnTo>
                  <a:pt x="0" y="3381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2210189" y="-365134"/>
            <a:ext cx="5979002" cy="3758218"/>
          </a:xfrm>
          <a:custGeom>
            <a:avLst/>
            <a:gdLst/>
            <a:ahLst/>
            <a:cxnLst/>
            <a:rect l="l" t="t" r="r" b="b"/>
            <a:pathLst>
              <a:path w="12303062" h="5956732">
                <a:moveTo>
                  <a:pt x="0" y="0"/>
                </a:moveTo>
                <a:lnTo>
                  <a:pt x="12303062" y="0"/>
                </a:lnTo>
                <a:lnTo>
                  <a:pt x="12303062" y="5956732"/>
                </a:lnTo>
                <a:lnTo>
                  <a:pt x="0" y="595673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3889851" y="4088192"/>
            <a:ext cx="4763518" cy="468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7"/>
              </a:lnSpc>
            </a:pPr>
            <a:r>
              <a:rPr lang="en-US" sz="2897" b="1" spc="28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STAY VIGILANT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646812" y="4088192"/>
            <a:ext cx="4763518" cy="468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7"/>
              </a:lnSpc>
            </a:pPr>
            <a:r>
              <a:rPr lang="en-US" sz="2897" b="1" spc="28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STAY SECURE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889851" y="6675411"/>
            <a:ext cx="4763518" cy="468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7"/>
              </a:lnSpc>
            </a:pPr>
            <a:r>
              <a:rPr lang="en-US" sz="2897" b="1" spc="28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MUHAMMAD ISRAR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646812" y="6675411"/>
            <a:ext cx="4763518" cy="468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7"/>
              </a:lnSpc>
            </a:pPr>
            <a:r>
              <a:rPr lang="en-US" sz="2897" b="1" spc="28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YOU!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889851" y="4807927"/>
            <a:ext cx="4763518" cy="256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50"/>
              </a:lnSpc>
            </a:pPr>
            <a:r>
              <a:rPr lang="en-US" sz="1577" i="1" spc="157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Security never stops — always be alert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646812" y="4807927"/>
            <a:ext cx="4763518" cy="256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50"/>
              </a:lnSpc>
            </a:pPr>
            <a:r>
              <a:rPr lang="en-US" sz="1577" i="1" spc="157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Pause, Inspect, Verify &amp; Report always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889851" y="7395145"/>
            <a:ext cx="4763518" cy="256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50"/>
              </a:lnSpc>
            </a:pPr>
            <a:r>
              <a:rPr lang="en-US" sz="1577" i="1" spc="157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Cybersecurity Intern @ CodeAlpha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646812" y="7395145"/>
            <a:ext cx="4763518" cy="256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50"/>
              </a:lnSpc>
            </a:pPr>
            <a:r>
              <a:rPr lang="en-US" sz="1577" i="1" spc="157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Prepared by Muhammad Israr | CodeAlpha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54564" y="952500"/>
            <a:ext cx="8042496" cy="590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44"/>
              </a:lnSpc>
              <a:spcBef>
                <a:spcPct val="0"/>
              </a:spcBef>
            </a:pPr>
            <a:r>
              <a:rPr lang="en-US" sz="338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CONCLUSION &amp; KEY TAKEAWAYS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54564" y="2152700"/>
            <a:ext cx="8042496" cy="430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35"/>
              </a:lnSpc>
            </a:pPr>
            <a:r>
              <a:rPr lang="en-US" sz="1334" spc="13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Security is a continuous process. Pause, Inspect, Verify, and Report every suspicious communication.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471293" y="9088438"/>
            <a:ext cx="3730816" cy="197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8"/>
              </a:lnSpc>
              <a:spcBef>
                <a:spcPct val="0"/>
              </a:spcBef>
            </a:pPr>
            <a:r>
              <a:rPr lang="en-US" sz="1213" spc="12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www.muhammadisrar.online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81260" y="9088438"/>
            <a:ext cx="3956837" cy="197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8"/>
              </a:lnSpc>
              <a:spcBef>
                <a:spcPct val="0"/>
              </a:spcBef>
            </a:pPr>
            <a:r>
              <a:rPr lang="en-US" sz="1213" spc="12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muhammadisrar0328@gmail.com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617191" y="9088438"/>
            <a:ext cx="2684633" cy="197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8"/>
              </a:lnSpc>
              <a:spcBef>
                <a:spcPct val="0"/>
              </a:spcBef>
            </a:pPr>
            <a:r>
              <a:rPr lang="en-US" sz="1213" spc="12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+923085642190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58674" y="6571280"/>
            <a:ext cx="5527100" cy="3332235"/>
          </a:xfrm>
          <a:custGeom>
            <a:avLst/>
            <a:gdLst/>
            <a:ahLst/>
            <a:cxnLst/>
            <a:rect l="l" t="t" r="r" b="b"/>
            <a:pathLst>
              <a:path w="6888340" h="3332235">
                <a:moveTo>
                  <a:pt x="6888340" y="0"/>
                </a:moveTo>
                <a:lnTo>
                  <a:pt x="0" y="0"/>
                </a:lnTo>
                <a:lnTo>
                  <a:pt x="0" y="3332235"/>
                </a:lnTo>
                <a:lnTo>
                  <a:pt x="6888340" y="3332235"/>
                </a:lnTo>
                <a:lnTo>
                  <a:pt x="688834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3509087" y="6171060"/>
            <a:ext cx="4547555" cy="3332235"/>
          </a:xfrm>
          <a:custGeom>
            <a:avLst/>
            <a:gdLst/>
            <a:ahLst/>
            <a:cxnLst/>
            <a:rect l="l" t="t" r="r" b="b"/>
            <a:pathLst>
              <a:path w="6888340" h="3332235">
                <a:moveTo>
                  <a:pt x="6888341" y="0"/>
                </a:moveTo>
                <a:lnTo>
                  <a:pt x="0" y="0"/>
                </a:lnTo>
                <a:lnTo>
                  <a:pt x="0" y="3332235"/>
                </a:lnTo>
                <a:lnTo>
                  <a:pt x="6888341" y="3332235"/>
                </a:lnTo>
                <a:lnTo>
                  <a:pt x="6888341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8765711"/>
            <a:ext cx="385509" cy="385509"/>
          </a:xfrm>
          <a:custGeom>
            <a:avLst/>
            <a:gdLst/>
            <a:ahLst/>
            <a:cxnLst/>
            <a:rect l="l" t="t" r="r" b="b"/>
            <a:pathLst>
              <a:path w="385509" h="385509">
                <a:moveTo>
                  <a:pt x="0" y="0"/>
                </a:moveTo>
                <a:lnTo>
                  <a:pt x="385509" y="0"/>
                </a:lnTo>
                <a:lnTo>
                  <a:pt x="385509" y="385509"/>
                </a:lnTo>
                <a:lnTo>
                  <a:pt x="0" y="385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544313" y="8771117"/>
            <a:ext cx="374696" cy="374696"/>
          </a:xfrm>
          <a:custGeom>
            <a:avLst/>
            <a:gdLst/>
            <a:ahLst/>
            <a:cxnLst/>
            <a:rect l="l" t="t" r="r" b="b"/>
            <a:pathLst>
              <a:path w="374696" h="374696">
                <a:moveTo>
                  <a:pt x="0" y="0"/>
                </a:moveTo>
                <a:lnTo>
                  <a:pt x="374696" y="0"/>
                </a:lnTo>
                <a:lnTo>
                  <a:pt x="374696" y="374697"/>
                </a:lnTo>
                <a:lnTo>
                  <a:pt x="0" y="3746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173144" y="8769764"/>
            <a:ext cx="377404" cy="377404"/>
          </a:xfrm>
          <a:custGeom>
            <a:avLst/>
            <a:gdLst/>
            <a:ahLst/>
            <a:cxnLst/>
            <a:rect l="l" t="t" r="r" b="b"/>
            <a:pathLst>
              <a:path w="377404" h="377404">
                <a:moveTo>
                  <a:pt x="0" y="0"/>
                </a:moveTo>
                <a:lnTo>
                  <a:pt x="377404" y="0"/>
                </a:lnTo>
                <a:lnTo>
                  <a:pt x="377404" y="377403"/>
                </a:lnTo>
                <a:lnTo>
                  <a:pt x="0" y="3774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5064" y="-706805"/>
            <a:ext cx="14864443" cy="5772150"/>
          </a:xfrm>
          <a:custGeom>
            <a:avLst/>
            <a:gdLst/>
            <a:ahLst/>
            <a:cxnLst/>
            <a:rect l="l" t="t" r="r" b="b"/>
            <a:pathLst>
              <a:path w="20492927" h="9913453">
                <a:moveTo>
                  <a:pt x="0" y="0"/>
                </a:moveTo>
                <a:lnTo>
                  <a:pt x="20492927" y="0"/>
                </a:lnTo>
                <a:lnTo>
                  <a:pt x="20492927" y="9913454"/>
                </a:lnTo>
                <a:lnTo>
                  <a:pt x="0" y="99134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5000"/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490936" y="6571280"/>
            <a:ext cx="7306128" cy="744064"/>
            <a:chOff x="0" y="0"/>
            <a:chExt cx="1924248" cy="1959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24248" cy="195968"/>
            </a:xfrm>
            <a:custGeom>
              <a:avLst/>
              <a:gdLst/>
              <a:ahLst/>
              <a:cxnLst/>
              <a:rect l="l" t="t" r="r" b="b"/>
              <a:pathLst>
                <a:path w="1924248" h="195968">
                  <a:moveTo>
                    <a:pt x="54042" y="0"/>
                  </a:moveTo>
                  <a:lnTo>
                    <a:pt x="1870206" y="0"/>
                  </a:lnTo>
                  <a:cubicBezTo>
                    <a:pt x="1900052" y="0"/>
                    <a:pt x="1924248" y="24195"/>
                    <a:pt x="1924248" y="54042"/>
                  </a:cubicBezTo>
                  <a:lnTo>
                    <a:pt x="1924248" y="141926"/>
                  </a:lnTo>
                  <a:cubicBezTo>
                    <a:pt x="1924248" y="156258"/>
                    <a:pt x="1918554" y="170004"/>
                    <a:pt x="1908419" y="180139"/>
                  </a:cubicBezTo>
                  <a:cubicBezTo>
                    <a:pt x="1898285" y="190274"/>
                    <a:pt x="1884539" y="195968"/>
                    <a:pt x="1870206" y="195968"/>
                  </a:cubicBezTo>
                  <a:lnTo>
                    <a:pt x="54042" y="195968"/>
                  </a:lnTo>
                  <a:cubicBezTo>
                    <a:pt x="39709" y="195968"/>
                    <a:pt x="25963" y="190274"/>
                    <a:pt x="15829" y="180139"/>
                  </a:cubicBezTo>
                  <a:cubicBezTo>
                    <a:pt x="5694" y="170004"/>
                    <a:pt x="0" y="156258"/>
                    <a:pt x="0" y="141926"/>
                  </a:cubicBezTo>
                  <a:lnTo>
                    <a:pt x="0" y="54042"/>
                  </a:lnTo>
                  <a:cubicBezTo>
                    <a:pt x="0" y="39709"/>
                    <a:pt x="5694" y="25963"/>
                    <a:pt x="15829" y="15829"/>
                  </a:cubicBezTo>
                  <a:cubicBezTo>
                    <a:pt x="25963" y="5694"/>
                    <a:pt x="39709" y="0"/>
                    <a:pt x="5404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992C1">
                    <a:alpha val="50000"/>
                  </a:srgbClr>
                </a:gs>
                <a:gs pos="100000">
                  <a:srgbClr val="0A2C92">
                    <a:alpha val="50000"/>
                  </a:srgbClr>
                </a:gs>
              </a:gsLst>
              <a:lin ang="0"/>
            </a:gradFill>
            <a:ln w="47625" cap="rnd">
              <a:gradFill>
                <a:gsLst>
                  <a:gs pos="0">
                    <a:srgbClr val="B992C1">
                      <a:alpha val="0"/>
                    </a:srgbClr>
                  </a:gs>
                  <a:gs pos="50000">
                    <a:srgbClr val="0A2C9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924248" cy="2245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79"/>
                </a:lnSpc>
              </a:pPr>
              <a:r>
                <a:rPr lang="en-US" sz="1556" spc="466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MUHAMMAD ISRAR | CYBERSECURITY INTERN @ CODEALPHA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414205" y="4052975"/>
            <a:ext cx="9459591" cy="93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27"/>
              </a:lnSpc>
              <a:spcBef>
                <a:spcPct val="0"/>
              </a:spcBef>
            </a:pPr>
            <a:r>
              <a:rPr lang="en-US" sz="544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YOU!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000125"/>
            <a:ext cx="4644851" cy="281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60"/>
              </a:lnSpc>
              <a:spcBef>
                <a:spcPct val="0"/>
              </a:spcBef>
            </a:pPr>
            <a:r>
              <a:rPr lang="en-US" sz="1686" i="1" spc="168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CODEALPHA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14205" y="5667779"/>
            <a:ext cx="9459591" cy="281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60"/>
              </a:lnSpc>
              <a:spcBef>
                <a:spcPct val="0"/>
              </a:spcBef>
            </a:pPr>
            <a:r>
              <a:rPr lang="en-US" sz="1686" spc="50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STAY VIGILANT. STAY SECURE.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13816" y="8779078"/>
            <a:ext cx="3730816" cy="224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6"/>
              </a:lnSpc>
              <a:spcBef>
                <a:spcPct val="0"/>
              </a:spcBef>
            </a:pPr>
            <a:r>
              <a:rPr lang="en-US" sz="1297" spc="12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www.muhammadisrar.online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23784" y="8779078"/>
            <a:ext cx="3956837" cy="224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6"/>
              </a:lnSpc>
              <a:spcBef>
                <a:spcPct val="0"/>
              </a:spcBef>
            </a:pPr>
            <a:r>
              <a:rPr lang="en-US" sz="1297" spc="12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muhammadisrar0328@gmail.com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659715" y="8779078"/>
            <a:ext cx="4599585" cy="224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6"/>
              </a:lnSpc>
              <a:spcBef>
                <a:spcPct val="0"/>
              </a:spcBef>
            </a:pPr>
            <a:r>
              <a:rPr lang="en-US" sz="1297" spc="12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+923085642190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3906500" y="1619250"/>
            <a:ext cx="3048000" cy="3048000"/>
            <a:chOff x="0" y="0"/>
            <a:chExt cx="4064000" cy="4064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064000" cy="4064000"/>
            </a:xfrm>
            <a:custGeom>
              <a:avLst/>
              <a:gdLst/>
              <a:ahLst/>
              <a:cxnLst/>
              <a:rect l="l" t="t" r="r" b="b"/>
              <a:pathLst>
                <a:path w="4064000" h="4064000">
                  <a:moveTo>
                    <a:pt x="2032000" y="0"/>
                  </a:moveTo>
                  <a:cubicBezTo>
                    <a:pt x="3154243" y="0"/>
                    <a:pt x="4064000" y="909757"/>
                    <a:pt x="4064000" y="2032000"/>
                  </a:cubicBezTo>
                  <a:cubicBezTo>
                    <a:pt x="4064000" y="3154243"/>
                    <a:pt x="3154243" y="4064000"/>
                    <a:pt x="2032000" y="4064000"/>
                  </a:cubicBezTo>
                  <a:cubicBezTo>
                    <a:pt x="909757" y="4064000"/>
                    <a:pt x="0" y="3154243"/>
                    <a:pt x="0" y="2032000"/>
                  </a:cubicBezTo>
                  <a:cubicBezTo>
                    <a:pt x="0" y="909757"/>
                    <a:pt x="909757" y="0"/>
                    <a:pt x="2032000" y="0"/>
                  </a:cubicBezTo>
                  <a:close/>
                </a:path>
              </a:pathLst>
            </a:custGeom>
            <a:solidFill>
              <a:srgbClr val="11183B"/>
            </a:solidFill>
            <a:ln w="38100" cap="sq">
              <a:solidFill>
                <a:srgbClr val="8D7CFF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4064000" cy="410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4020800" y="1733550"/>
            <a:ext cx="2819400" cy="2819400"/>
          </a:xfrm>
          <a:custGeom>
            <a:avLst/>
            <a:gdLst/>
            <a:ahLst/>
            <a:cxnLst/>
            <a:rect l="l" t="t" r="r" b="b"/>
            <a:pathLst>
              <a:path w="2819400" h="2819400">
                <a:moveTo>
                  <a:pt x="0" y="0"/>
                </a:moveTo>
                <a:lnTo>
                  <a:pt x="2819400" y="0"/>
                </a:lnTo>
                <a:lnTo>
                  <a:pt x="2819400" y="2819400"/>
                </a:lnTo>
                <a:lnTo>
                  <a:pt x="0" y="2819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1434</Words>
  <Application>Microsoft Office PowerPoint</Application>
  <PresentationFormat>Custom</PresentationFormat>
  <Paragraphs>172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DM Sans Bold</vt:lpstr>
      <vt:lpstr>Arial</vt:lpstr>
      <vt:lpstr>Archivo Black</vt:lpstr>
      <vt:lpstr>DM Sans</vt:lpstr>
      <vt:lpstr>Calibri</vt:lpstr>
      <vt:lpstr>DM Sans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Template-Based Presentation</dc:title>
  <cp:lastModifiedBy>syed israr khan</cp:lastModifiedBy>
  <cp:revision>3</cp:revision>
  <dcterms:created xsi:type="dcterms:W3CDTF">2006-08-16T00:00:00Z</dcterms:created>
  <dcterms:modified xsi:type="dcterms:W3CDTF">2026-10-07T21:15:41Z</dcterms:modified>
  <dc:identifier>DAHXXODDzRQ</dc:identifier>
</cp:coreProperties>
</file>